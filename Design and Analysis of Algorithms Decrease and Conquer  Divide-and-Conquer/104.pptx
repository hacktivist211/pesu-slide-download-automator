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57" r:id="rId2"/>
    <p:sldId id="358" r:id="rId3"/>
    <p:sldId id="377" r:id="rId4"/>
    <p:sldId id="386" r:id="rId5"/>
    <p:sldId id="387" r:id="rId6"/>
    <p:sldId id="390" r:id="rId7"/>
    <p:sldId id="389" r:id="rId8"/>
    <p:sldId id="345"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4" d="100"/>
          <a:sy n="64" d="100"/>
        </p:scale>
        <p:origin x="680" y="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E7196-0A1D-43F9-96F8-6131A8C3E54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591A347-14E4-4DA6-8466-E20F5DD0C1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F25BB59-6C06-4608-B9C2-AFD556E0E88B}"/>
              </a:ext>
            </a:extLst>
          </p:cNvPr>
          <p:cNvSpPr>
            <a:spLocks noGrp="1"/>
          </p:cNvSpPr>
          <p:nvPr>
            <p:ph type="dt" sz="half" idx="10"/>
          </p:nvPr>
        </p:nvSpPr>
        <p:spPr/>
        <p:txBody>
          <a:bodyPr/>
          <a:lstStyle/>
          <a:p>
            <a:fld id="{3717A1C5-95F7-4229-A93B-29F7FF3DA000}" type="datetimeFigureOut">
              <a:rPr lang="en-IN" smtClean="0"/>
              <a:pPr/>
              <a:t>05-02-2021</a:t>
            </a:fld>
            <a:endParaRPr lang="en-IN"/>
          </a:p>
        </p:txBody>
      </p:sp>
      <p:sp>
        <p:nvSpPr>
          <p:cNvPr id="5" name="Footer Placeholder 4">
            <a:extLst>
              <a:ext uri="{FF2B5EF4-FFF2-40B4-BE49-F238E27FC236}">
                <a16:creationId xmlns:a16="http://schemas.microsoft.com/office/drawing/2014/main" id="{DE024737-A7EA-405D-9C53-00DC763580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AFCA8F-5152-4E17-A634-AAC30C0A16CE}"/>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250938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97697-0E3B-45DE-993E-41D6192C547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4F5D431-817D-468E-AC74-4AEFB8C24BA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E66076-D71B-432E-B3DA-D6BFA8E70485}"/>
              </a:ext>
            </a:extLst>
          </p:cNvPr>
          <p:cNvSpPr>
            <a:spLocks noGrp="1"/>
          </p:cNvSpPr>
          <p:nvPr>
            <p:ph type="dt" sz="half" idx="10"/>
          </p:nvPr>
        </p:nvSpPr>
        <p:spPr/>
        <p:txBody>
          <a:bodyPr/>
          <a:lstStyle/>
          <a:p>
            <a:fld id="{3717A1C5-95F7-4229-A93B-29F7FF3DA000}" type="datetimeFigureOut">
              <a:rPr lang="en-IN" smtClean="0"/>
              <a:pPr/>
              <a:t>05-02-2021</a:t>
            </a:fld>
            <a:endParaRPr lang="en-IN"/>
          </a:p>
        </p:txBody>
      </p:sp>
      <p:sp>
        <p:nvSpPr>
          <p:cNvPr id="5" name="Footer Placeholder 4">
            <a:extLst>
              <a:ext uri="{FF2B5EF4-FFF2-40B4-BE49-F238E27FC236}">
                <a16:creationId xmlns:a16="http://schemas.microsoft.com/office/drawing/2014/main" id="{86E9EAE1-A891-420F-AABF-E5D3570753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050AF0-4B82-4D90-9977-2702EFAD047E}"/>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3998037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76000-B1F3-49B4-8840-4F2FE09F31A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F9AD8B6-0C53-47EB-9E27-9A8CFF9C0D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4A0F0A-5BC1-44A8-A937-DAAFBEA3CE4A}"/>
              </a:ext>
            </a:extLst>
          </p:cNvPr>
          <p:cNvSpPr>
            <a:spLocks noGrp="1"/>
          </p:cNvSpPr>
          <p:nvPr>
            <p:ph type="dt" sz="half" idx="10"/>
          </p:nvPr>
        </p:nvSpPr>
        <p:spPr/>
        <p:txBody>
          <a:bodyPr/>
          <a:lstStyle/>
          <a:p>
            <a:fld id="{3717A1C5-95F7-4229-A93B-29F7FF3DA000}" type="datetimeFigureOut">
              <a:rPr lang="en-IN" smtClean="0"/>
              <a:pPr/>
              <a:t>05-02-2021</a:t>
            </a:fld>
            <a:endParaRPr lang="en-IN"/>
          </a:p>
        </p:txBody>
      </p:sp>
      <p:sp>
        <p:nvSpPr>
          <p:cNvPr id="5" name="Footer Placeholder 4">
            <a:extLst>
              <a:ext uri="{FF2B5EF4-FFF2-40B4-BE49-F238E27FC236}">
                <a16:creationId xmlns:a16="http://schemas.microsoft.com/office/drawing/2014/main" id="{D516B7DB-3DF3-4E87-84F1-6D3BB836F2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586888-F8BA-4159-BE04-8C9B0A74B0BB}"/>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2891180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1BC13-A691-4A44-8F09-DEAB94E6E21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C0470BA-CF69-482F-86D7-B3B2B81039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6EF3F02-F9D9-4D4B-932D-10D3C701513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154D0B3-961E-4BAC-9CA4-08D89CF82A20}"/>
              </a:ext>
            </a:extLst>
          </p:cNvPr>
          <p:cNvSpPr>
            <a:spLocks noGrp="1"/>
          </p:cNvSpPr>
          <p:nvPr>
            <p:ph type="dt" sz="half" idx="10"/>
          </p:nvPr>
        </p:nvSpPr>
        <p:spPr/>
        <p:txBody>
          <a:bodyPr/>
          <a:lstStyle/>
          <a:p>
            <a:fld id="{3717A1C5-95F7-4229-A93B-29F7FF3DA000}" type="datetimeFigureOut">
              <a:rPr lang="en-IN" smtClean="0"/>
              <a:pPr/>
              <a:t>05-02-2021</a:t>
            </a:fld>
            <a:endParaRPr lang="en-IN"/>
          </a:p>
        </p:txBody>
      </p:sp>
      <p:sp>
        <p:nvSpPr>
          <p:cNvPr id="6" name="Footer Placeholder 5">
            <a:extLst>
              <a:ext uri="{FF2B5EF4-FFF2-40B4-BE49-F238E27FC236}">
                <a16:creationId xmlns:a16="http://schemas.microsoft.com/office/drawing/2014/main" id="{8DD4364F-C564-48E4-84D0-352B17CE696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6B6F2F7-150E-4C49-B6B7-8E72E6E8E5A4}"/>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175150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61F13-E7B0-4450-891A-12D3F00317C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A070134-48F1-45F0-9C63-38634B426A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F6F59C-8B0A-4097-8A5D-BA9FB1FC2E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C0E4A01-83B3-465C-B056-C028FF594C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DF7CD2-C62B-450F-A438-929A17296D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13DBE79-A9B6-48AB-9F01-88AA6A05B5CE}"/>
              </a:ext>
            </a:extLst>
          </p:cNvPr>
          <p:cNvSpPr>
            <a:spLocks noGrp="1"/>
          </p:cNvSpPr>
          <p:nvPr>
            <p:ph type="dt" sz="half" idx="10"/>
          </p:nvPr>
        </p:nvSpPr>
        <p:spPr/>
        <p:txBody>
          <a:bodyPr/>
          <a:lstStyle/>
          <a:p>
            <a:fld id="{3717A1C5-95F7-4229-A93B-29F7FF3DA000}" type="datetimeFigureOut">
              <a:rPr lang="en-IN" smtClean="0"/>
              <a:pPr/>
              <a:t>05-02-2021</a:t>
            </a:fld>
            <a:endParaRPr lang="en-IN"/>
          </a:p>
        </p:txBody>
      </p:sp>
      <p:sp>
        <p:nvSpPr>
          <p:cNvPr id="8" name="Footer Placeholder 7">
            <a:extLst>
              <a:ext uri="{FF2B5EF4-FFF2-40B4-BE49-F238E27FC236}">
                <a16:creationId xmlns:a16="http://schemas.microsoft.com/office/drawing/2014/main" id="{FCA1A849-F61D-416C-82D9-FD2F0D5B297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D4E5968-BD8E-49EA-B1C0-883FDCD51EFD}"/>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4074283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5C0C5-C1DF-4B30-86BF-702058A0901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9980EB2-6319-452D-816A-655EE9C34746}"/>
              </a:ext>
            </a:extLst>
          </p:cNvPr>
          <p:cNvSpPr>
            <a:spLocks noGrp="1"/>
          </p:cNvSpPr>
          <p:nvPr>
            <p:ph type="dt" sz="half" idx="10"/>
          </p:nvPr>
        </p:nvSpPr>
        <p:spPr/>
        <p:txBody>
          <a:bodyPr/>
          <a:lstStyle/>
          <a:p>
            <a:fld id="{3717A1C5-95F7-4229-A93B-29F7FF3DA000}" type="datetimeFigureOut">
              <a:rPr lang="en-IN" smtClean="0"/>
              <a:pPr/>
              <a:t>05-02-2021</a:t>
            </a:fld>
            <a:endParaRPr lang="en-IN"/>
          </a:p>
        </p:txBody>
      </p:sp>
      <p:sp>
        <p:nvSpPr>
          <p:cNvPr id="4" name="Footer Placeholder 3">
            <a:extLst>
              <a:ext uri="{FF2B5EF4-FFF2-40B4-BE49-F238E27FC236}">
                <a16:creationId xmlns:a16="http://schemas.microsoft.com/office/drawing/2014/main" id="{12847E02-77DD-4F7C-9461-431051F3087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5B48EC9-FFDF-4F14-A006-9ED08C221D7A}"/>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2735135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AC4010-3CC3-4ED9-BC47-437A2B95829A}"/>
              </a:ext>
            </a:extLst>
          </p:cNvPr>
          <p:cNvSpPr>
            <a:spLocks noGrp="1"/>
          </p:cNvSpPr>
          <p:nvPr>
            <p:ph type="dt" sz="half" idx="10"/>
          </p:nvPr>
        </p:nvSpPr>
        <p:spPr/>
        <p:txBody>
          <a:bodyPr/>
          <a:lstStyle/>
          <a:p>
            <a:fld id="{3717A1C5-95F7-4229-A93B-29F7FF3DA000}" type="datetimeFigureOut">
              <a:rPr lang="en-IN" smtClean="0"/>
              <a:pPr/>
              <a:t>05-02-2021</a:t>
            </a:fld>
            <a:endParaRPr lang="en-IN"/>
          </a:p>
        </p:txBody>
      </p:sp>
      <p:sp>
        <p:nvSpPr>
          <p:cNvPr id="3" name="Footer Placeholder 2">
            <a:extLst>
              <a:ext uri="{FF2B5EF4-FFF2-40B4-BE49-F238E27FC236}">
                <a16:creationId xmlns:a16="http://schemas.microsoft.com/office/drawing/2014/main" id="{E80484C3-38E2-44A7-AD87-98DF739A72E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707CE2B-838A-454A-852B-8EAFFA5BCF9F}"/>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11808889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18C39-136A-490F-82E6-B74F16102D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C4E3FA5-A6D0-407B-9353-45807BDC70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665529D-8A1D-4CEC-ACF2-A9668B5DFA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1B61FA-7B4A-49EE-9F1B-8F14E749EEA0}"/>
              </a:ext>
            </a:extLst>
          </p:cNvPr>
          <p:cNvSpPr>
            <a:spLocks noGrp="1"/>
          </p:cNvSpPr>
          <p:nvPr>
            <p:ph type="dt" sz="half" idx="10"/>
          </p:nvPr>
        </p:nvSpPr>
        <p:spPr/>
        <p:txBody>
          <a:bodyPr/>
          <a:lstStyle/>
          <a:p>
            <a:fld id="{3717A1C5-95F7-4229-A93B-29F7FF3DA000}" type="datetimeFigureOut">
              <a:rPr lang="en-IN" smtClean="0"/>
              <a:pPr/>
              <a:t>05-02-2021</a:t>
            </a:fld>
            <a:endParaRPr lang="en-IN"/>
          </a:p>
        </p:txBody>
      </p:sp>
      <p:sp>
        <p:nvSpPr>
          <p:cNvPr id="6" name="Footer Placeholder 5">
            <a:extLst>
              <a:ext uri="{FF2B5EF4-FFF2-40B4-BE49-F238E27FC236}">
                <a16:creationId xmlns:a16="http://schemas.microsoft.com/office/drawing/2014/main" id="{BB6BDBE7-EB71-426C-8E02-2F39733F7F4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4714907-13EA-4E79-8417-0EC5E502E486}"/>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33374836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C4529-7C3C-4D10-AD9C-86CB67D2BF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2173FF7-1E37-47DA-BCCB-AFDD0F6F84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0C43DAF-8DA8-48F8-B118-56B11692BF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DBE107-EEF1-4F60-8BFB-A0B8F32EFE52}"/>
              </a:ext>
            </a:extLst>
          </p:cNvPr>
          <p:cNvSpPr>
            <a:spLocks noGrp="1"/>
          </p:cNvSpPr>
          <p:nvPr>
            <p:ph type="dt" sz="half" idx="10"/>
          </p:nvPr>
        </p:nvSpPr>
        <p:spPr/>
        <p:txBody>
          <a:bodyPr/>
          <a:lstStyle/>
          <a:p>
            <a:fld id="{3717A1C5-95F7-4229-A93B-29F7FF3DA000}" type="datetimeFigureOut">
              <a:rPr lang="en-IN" smtClean="0"/>
              <a:pPr/>
              <a:t>05-02-2021</a:t>
            </a:fld>
            <a:endParaRPr lang="en-IN"/>
          </a:p>
        </p:txBody>
      </p:sp>
      <p:sp>
        <p:nvSpPr>
          <p:cNvPr id="6" name="Footer Placeholder 5">
            <a:extLst>
              <a:ext uri="{FF2B5EF4-FFF2-40B4-BE49-F238E27FC236}">
                <a16:creationId xmlns:a16="http://schemas.microsoft.com/office/drawing/2014/main" id="{3BB2FC9C-1AB4-400D-8A60-C7B3A805855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125E51E-1606-443F-8DDC-5BC7A3D910FC}"/>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805698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81B9E-9443-4F41-8CDB-8E6E4CF2707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637440A-C0A0-4620-8CB7-BC24F4E100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ECDE26-EE92-4514-B595-DD288D69BDDA}"/>
              </a:ext>
            </a:extLst>
          </p:cNvPr>
          <p:cNvSpPr>
            <a:spLocks noGrp="1"/>
          </p:cNvSpPr>
          <p:nvPr>
            <p:ph type="dt" sz="half" idx="10"/>
          </p:nvPr>
        </p:nvSpPr>
        <p:spPr/>
        <p:txBody>
          <a:bodyPr/>
          <a:lstStyle/>
          <a:p>
            <a:fld id="{3717A1C5-95F7-4229-A93B-29F7FF3DA000}" type="datetimeFigureOut">
              <a:rPr lang="en-IN" smtClean="0"/>
              <a:pPr/>
              <a:t>05-02-2021</a:t>
            </a:fld>
            <a:endParaRPr lang="en-IN"/>
          </a:p>
        </p:txBody>
      </p:sp>
      <p:sp>
        <p:nvSpPr>
          <p:cNvPr id="5" name="Footer Placeholder 4">
            <a:extLst>
              <a:ext uri="{FF2B5EF4-FFF2-40B4-BE49-F238E27FC236}">
                <a16:creationId xmlns:a16="http://schemas.microsoft.com/office/drawing/2014/main" id="{CAB18649-6317-4A86-BF87-6BCCFA208E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9FA2ED-B0E3-48EA-BF01-F14C24A36C7D}"/>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8762705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195C72-B502-4011-AB72-4BBC7CCE949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1A45A48-60F9-47B3-9E1A-0E76EE6ED6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C2F640-11BE-4566-9603-D1D7F7E96FC4}"/>
              </a:ext>
            </a:extLst>
          </p:cNvPr>
          <p:cNvSpPr>
            <a:spLocks noGrp="1"/>
          </p:cNvSpPr>
          <p:nvPr>
            <p:ph type="dt" sz="half" idx="10"/>
          </p:nvPr>
        </p:nvSpPr>
        <p:spPr/>
        <p:txBody>
          <a:bodyPr/>
          <a:lstStyle/>
          <a:p>
            <a:fld id="{3717A1C5-95F7-4229-A93B-29F7FF3DA000}" type="datetimeFigureOut">
              <a:rPr lang="en-IN" smtClean="0"/>
              <a:pPr/>
              <a:t>05-02-2021</a:t>
            </a:fld>
            <a:endParaRPr lang="en-IN"/>
          </a:p>
        </p:txBody>
      </p:sp>
      <p:sp>
        <p:nvSpPr>
          <p:cNvPr id="5" name="Footer Placeholder 4">
            <a:extLst>
              <a:ext uri="{FF2B5EF4-FFF2-40B4-BE49-F238E27FC236}">
                <a16:creationId xmlns:a16="http://schemas.microsoft.com/office/drawing/2014/main" id="{BF45CB06-5043-4F88-9848-829BAD7A0D5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693EAC-3ADD-4236-B7D3-0540B8D65BEC}"/>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2910687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435DF9-745D-444C-9DD7-A6DD954688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FA09DCF-D326-45B4-9E4E-070E325317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80EC5D-D4D0-42B9-9170-212F1B335C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17A1C5-95F7-4229-A93B-29F7FF3DA000}" type="datetimeFigureOut">
              <a:rPr lang="en-IN" smtClean="0"/>
              <a:pPr/>
              <a:t>05-02-2021</a:t>
            </a:fld>
            <a:endParaRPr lang="en-IN"/>
          </a:p>
        </p:txBody>
      </p:sp>
      <p:sp>
        <p:nvSpPr>
          <p:cNvPr id="5" name="Footer Placeholder 4">
            <a:extLst>
              <a:ext uri="{FF2B5EF4-FFF2-40B4-BE49-F238E27FC236}">
                <a16:creationId xmlns:a16="http://schemas.microsoft.com/office/drawing/2014/main" id="{D77E3022-2659-46A1-A7BE-9894421E21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6EAFC63-250A-46C7-8FC2-85F3F3181D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7729C9-FBBD-4916-93BC-8B48DFD0D00A}" type="slidenum">
              <a:rPr lang="en-IN" smtClean="0"/>
              <a:pPr/>
              <a:t>‹#›</a:t>
            </a:fld>
            <a:endParaRPr lang="en-IN"/>
          </a:p>
        </p:txBody>
      </p:sp>
    </p:spTree>
    <p:extLst>
      <p:ext uri="{BB962C8B-B14F-4D97-AF65-F5344CB8AC3E}">
        <p14:creationId xmlns:p14="http://schemas.microsoft.com/office/powerpoint/2010/main" val="29214269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DFE3490-CF8C-4FDE-9D71-2170861F2A61}"/>
              </a:ext>
            </a:extLst>
          </p:cNvPr>
          <p:cNvSpPr/>
          <p:nvPr/>
        </p:nvSpPr>
        <p:spPr>
          <a:xfrm>
            <a:off x="4711149" y="1635949"/>
            <a:ext cx="6823823" cy="1200329"/>
          </a:xfrm>
          <a:prstGeom prst="rect">
            <a:avLst/>
          </a:prstGeom>
        </p:spPr>
        <p:txBody>
          <a:bodyPr wrap="square">
            <a:spAutoFit/>
          </a:bodyPr>
          <a:lstStyle/>
          <a:p>
            <a:r>
              <a:rPr lang="en-US" sz="3600" b="1" dirty="0">
                <a:solidFill>
                  <a:schemeClr val="accent2">
                    <a:lumMod val="75000"/>
                  </a:schemeClr>
                </a:solidFill>
              </a:rPr>
              <a:t>DESIGN AND ANALYSIS OF ALGORITHMS</a:t>
            </a:r>
          </a:p>
        </p:txBody>
      </p:sp>
      <p:sp>
        <p:nvSpPr>
          <p:cNvPr id="14" name="Rectangle 13">
            <a:extLst>
              <a:ext uri="{FF2B5EF4-FFF2-40B4-BE49-F238E27FC236}">
                <a16:creationId xmlns:a16="http://schemas.microsoft.com/office/drawing/2014/main" id="{585D8B7B-5B60-4808-A096-FB24198F96E9}"/>
              </a:ext>
            </a:extLst>
          </p:cNvPr>
          <p:cNvSpPr/>
          <p:nvPr/>
        </p:nvSpPr>
        <p:spPr>
          <a:xfrm>
            <a:off x="4781916" y="2918595"/>
            <a:ext cx="7497214" cy="461665"/>
          </a:xfrm>
          <a:prstGeom prst="rect">
            <a:avLst/>
          </a:prstGeom>
        </p:spPr>
        <p:txBody>
          <a:bodyPr wrap="square">
            <a:spAutoFit/>
          </a:bodyPr>
          <a:lstStyle/>
          <a:p>
            <a:r>
              <a:rPr lang="en-IN" sz="2400" b="1" dirty="0" err="1"/>
              <a:t>Surabhi</a:t>
            </a:r>
            <a:r>
              <a:rPr lang="en-IN" sz="2400" b="1" dirty="0"/>
              <a:t> Narayan</a:t>
            </a:r>
          </a:p>
        </p:txBody>
      </p:sp>
      <p:sp>
        <p:nvSpPr>
          <p:cNvPr id="15" name="Rectangle 14">
            <a:extLst>
              <a:ext uri="{FF2B5EF4-FFF2-40B4-BE49-F238E27FC236}">
                <a16:creationId xmlns:a16="http://schemas.microsoft.com/office/drawing/2014/main" id="{743662B4-0C28-4203-AEB1-4CC1644B8226}"/>
              </a:ext>
            </a:extLst>
          </p:cNvPr>
          <p:cNvSpPr/>
          <p:nvPr/>
        </p:nvSpPr>
        <p:spPr>
          <a:xfrm>
            <a:off x="4694786" y="3327135"/>
            <a:ext cx="7497214" cy="461665"/>
          </a:xfrm>
          <a:prstGeom prst="rect">
            <a:avLst/>
          </a:prstGeom>
        </p:spPr>
        <p:txBody>
          <a:bodyPr wrap="square">
            <a:spAutoFit/>
          </a:bodyPr>
          <a:lstStyle/>
          <a:p>
            <a:r>
              <a:rPr lang="en-US" sz="2400" dirty="0"/>
              <a:t>Department of Computer Science &amp; Engineering</a:t>
            </a:r>
            <a:endParaRPr lang="en-IN" sz="2400" dirty="0"/>
          </a:p>
        </p:txBody>
      </p:sp>
      <p:grpSp>
        <p:nvGrpSpPr>
          <p:cNvPr id="20" name="Group 19">
            <a:extLst>
              <a:ext uri="{FF2B5EF4-FFF2-40B4-BE49-F238E27FC236}">
                <a16:creationId xmlns:a16="http://schemas.microsoft.com/office/drawing/2014/main" id="{87008925-27BE-4F37-8F3C-D51A4CE1017D}"/>
              </a:ext>
            </a:extLst>
          </p:cNvPr>
          <p:cNvGrpSpPr/>
          <p:nvPr/>
        </p:nvGrpSpPr>
        <p:grpSpPr>
          <a:xfrm>
            <a:off x="313844" y="5489699"/>
            <a:ext cx="1066895" cy="1078155"/>
            <a:chOff x="313844" y="5489699"/>
            <a:chExt cx="1066895" cy="1078155"/>
          </a:xfrm>
          <a:solidFill>
            <a:schemeClr val="accent2">
              <a:lumMod val="75000"/>
            </a:schemeClr>
          </a:solidFill>
        </p:grpSpPr>
        <p:sp>
          <p:nvSpPr>
            <p:cNvPr id="24" name="Rectangle 23">
              <a:extLst>
                <a:ext uri="{FF2B5EF4-FFF2-40B4-BE49-F238E27FC236}">
                  <a16:creationId xmlns:a16="http://schemas.microsoft.com/office/drawing/2014/main" id="{D05F1195-3C1E-433F-AC45-B08B7F507642}"/>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4DA4F79B-7A52-499C-A65E-A51F3EDF5C3E}"/>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11" name="Straight Connector 10">
            <a:extLst>
              <a:ext uri="{FF2B5EF4-FFF2-40B4-BE49-F238E27FC236}">
                <a16:creationId xmlns:a16="http://schemas.microsoft.com/office/drawing/2014/main" id="{1EEB87D2-BD33-43D4-B135-6F0E91C4917A}"/>
              </a:ext>
            </a:extLst>
          </p:cNvPr>
          <p:cNvCxnSpPr>
            <a:cxnSpLocks/>
          </p:cNvCxnSpPr>
          <p:nvPr/>
        </p:nvCxnSpPr>
        <p:spPr>
          <a:xfrm flipV="1">
            <a:off x="4781916" y="2877436"/>
            <a:ext cx="4581449" cy="1"/>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12" name="Picture 11" descr="A close up of a logo&#10;&#10;Description automatically generated">
            <a:extLst>
              <a:ext uri="{FF2B5EF4-FFF2-40B4-BE49-F238E27FC236}">
                <a16:creationId xmlns:a16="http://schemas.microsoft.com/office/drawing/2014/main" id="{66C7B340-EC4A-4D32-8643-325F1D66DF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45722" y="1226241"/>
            <a:ext cx="2369218" cy="3550188"/>
          </a:xfrm>
          <a:prstGeom prst="rect">
            <a:avLst/>
          </a:prstGeom>
        </p:spPr>
      </p:pic>
      <p:grpSp>
        <p:nvGrpSpPr>
          <p:cNvPr id="16" name="Group 15">
            <a:extLst>
              <a:ext uri="{FF2B5EF4-FFF2-40B4-BE49-F238E27FC236}">
                <a16:creationId xmlns:a16="http://schemas.microsoft.com/office/drawing/2014/main" id="{87008925-27BE-4F37-8F3C-D51A4CE1017D}"/>
              </a:ext>
            </a:extLst>
          </p:cNvPr>
          <p:cNvGrpSpPr/>
          <p:nvPr/>
        </p:nvGrpSpPr>
        <p:grpSpPr>
          <a:xfrm rot="10800000">
            <a:off x="10855702" y="266068"/>
            <a:ext cx="1066895" cy="1078155"/>
            <a:chOff x="313844" y="5489699"/>
            <a:chExt cx="1066895" cy="1078155"/>
          </a:xfrm>
          <a:solidFill>
            <a:schemeClr val="accent2">
              <a:lumMod val="75000"/>
            </a:schemeClr>
          </a:solidFill>
        </p:grpSpPr>
        <p:sp>
          <p:nvSpPr>
            <p:cNvPr id="17" name="Rectangle 16">
              <a:extLst>
                <a:ext uri="{FF2B5EF4-FFF2-40B4-BE49-F238E27FC236}">
                  <a16:creationId xmlns:a16="http://schemas.microsoft.com/office/drawing/2014/main" id="{D05F1195-3C1E-433F-AC45-B08B7F507642}"/>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4DA4F79B-7A52-499C-A65E-A51F3EDF5C3E}"/>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1300290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DFE3490-CF8C-4FDE-9D71-2170861F2A61}"/>
              </a:ext>
            </a:extLst>
          </p:cNvPr>
          <p:cNvSpPr/>
          <p:nvPr/>
        </p:nvSpPr>
        <p:spPr>
          <a:xfrm>
            <a:off x="598883" y="1849772"/>
            <a:ext cx="8992378" cy="646331"/>
          </a:xfrm>
          <a:prstGeom prst="rect">
            <a:avLst/>
          </a:prstGeom>
        </p:spPr>
        <p:txBody>
          <a:bodyPr wrap="square">
            <a:spAutoFit/>
          </a:bodyPr>
          <a:lstStyle/>
          <a:p>
            <a:r>
              <a:rPr lang="en-US" sz="3600" b="1" cap="all" dirty="0"/>
              <a:t>DESIGN AND ANALYSIS OF ALGORITHMS</a:t>
            </a:r>
          </a:p>
        </p:txBody>
      </p:sp>
      <p:sp>
        <p:nvSpPr>
          <p:cNvPr id="13" name="Rectangle 12">
            <a:extLst>
              <a:ext uri="{FF2B5EF4-FFF2-40B4-BE49-F238E27FC236}">
                <a16:creationId xmlns:a16="http://schemas.microsoft.com/office/drawing/2014/main" id="{34CEFAD4-E477-4E46-B5A6-ADB26E6A2863}"/>
              </a:ext>
            </a:extLst>
          </p:cNvPr>
          <p:cNvSpPr/>
          <p:nvPr/>
        </p:nvSpPr>
        <p:spPr>
          <a:xfrm>
            <a:off x="598883" y="2888778"/>
            <a:ext cx="7497214" cy="646331"/>
          </a:xfrm>
          <a:prstGeom prst="rect">
            <a:avLst/>
          </a:prstGeom>
        </p:spPr>
        <p:txBody>
          <a:bodyPr wrap="square">
            <a:spAutoFit/>
          </a:bodyPr>
          <a:lstStyle/>
          <a:p>
            <a:r>
              <a:rPr lang="en-IN" sz="3600" b="1" dirty="0">
                <a:solidFill>
                  <a:schemeClr val="accent1">
                    <a:lumMod val="75000"/>
                  </a:schemeClr>
                </a:solidFill>
              </a:rPr>
              <a:t>DECREASE AND CONQUER</a:t>
            </a:r>
          </a:p>
        </p:txBody>
      </p:sp>
      <p:sp>
        <p:nvSpPr>
          <p:cNvPr id="14" name="Rectangle 13">
            <a:extLst>
              <a:ext uri="{FF2B5EF4-FFF2-40B4-BE49-F238E27FC236}">
                <a16:creationId xmlns:a16="http://schemas.microsoft.com/office/drawing/2014/main" id="{585D8B7B-5B60-4808-A096-FB24198F96E9}"/>
              </a:ext>
            </a:extLst>
          </p:cNvPr>
          <p:cNvSpPr/>
          <p:nvPr/>
        </p:nvSpPr>
        <p:spPr>
          <a:xfrm>
            <a:off x="598883" y="5489699"/>
            <a:ext cx="7497214" cy="461665"/>
          </a:xfrm>
          <a:prstGeom prst="rect">
            <a:avLst/>
          </a:prstGeom>
        </p:spPr>
        <p:txBody>
          <a:bodyPr wrap="square">
            <a:spAutoFit/>
          </a:bodyPr>
          <a:lstStyle/>
          <a:p>
            <a:r>
              <a:rPr lang="en-US" sz="2400" b="1" dirty="0" err="1"/>
              <a:t>Surabhi</a:t>
            </a:r>
            <a:r>
              <a:rPr lang="en-US" sz="2400" b="1" dirty="0"/>
              <a:t> Narayan</a:t>
            </a:r>
            <a:endParaRPr lang="en-IN" sz="2400" b="1" dirty="0"/>
          </a:p>
        </p:txBody>
      </p:sp>
      <p:sp>
        <p:nvSpPr>
          <p:cNvPr id="15" name="Rectangle 14">
            <a:extLst>
              <a:ext uri="{FF2B5EF4-FFF2-40B4-BE49-F238E27FC236}">
                <a16:creationId xmlns:a16="http://schemas.microsoft.com/office/drawing/2014/main" id="{743662B4-0C28-4203-AEB1-4CC1644B8226}"/>
              </a:ext>
            </a:extLst>
          </p:cNvPr>
          <p:cNvSpPr/>
          <p:nvPr/>
        </p:nvSpPr>
        <p:spPr>
          <a:xfrm>
            <a:off x="598883" y="5887304"/>
            <a:ext cx="7497214" cy="400110"/>
          </a:xfrm>
          <a:prstGeom prst="rect">
            <a:avLst/>
          </a:prstGeom>
        </p:spPr>
        <p:txBody>
          <a:bodyPr wrap="square">
            <a:spAutoFit/>
          </a:bodyPr>
          <a:lstStyle/>
          <a:p>
            <a:r>
              <a:rPr lang="en-US" sz="2000" dirty="0"/>
              <a:t>Department of Computer Science &amp; Engineering</a:t>
            </a:r>
            <a:endParaRPr lang="en-IN" sz="2000" dirty="0"/>
          </a:p>
        </p:txBody>
      </p:sp>
      <p:grpSp>
        <p:nvGrpSpPr>
          <p:cNvPr id="20" name="Group 19">
            <a:extLst>
              <a:ext uri="{FF2B5EF4-FFF2-40B4-BE49-F238E27FC236}">
                <a16:creationId xmlns:a16="http://schemas.microsoft.com/office/drawing/2014/main" id="{87008925-27BE-4F37-8F3C-D51A4CE1017D}"/>
              </a:ext>
            </a:extLst>
          </p:cNvPr>
          <p:cNvGrpSpPr/>
          <p:nvPr/>
        </p:nvGrpSpPr>
        <p:grpSpPr>
          <a:xfrm>
            <a:off x="313844" y="5489699"/>
            <a:ext cx="1066895" cy="1078155"/>
            <a:chOff x="313844" y="5489699"/>
            <a:chExt cx="1066895" cy="1078155"/>
          </a:xfrm>
          <a:solidFill>
            <a:schemeClr val="accent2">
              <a:lumMod val="60000"/>
              <a:lumOff val="40000"/>
            </a:schemeClr>
          </a:solidFill>
        </p:grpSpPr>
        <p:sp>
          <p:nvSpPr>
            <p:cNvPr id="24" name="Rectangle 23">
              <a:extLst>
                <a:ext uri="{FF2B5EF4-FFF2-40B4-BE49-F238E27FC236}">
                  <a16:creationId xmlns:a16="http://schemas.microsoft.com/office/drawing/2014/main" id="{D05F1195-3C1E-433F-AC45-B08B7F507642}"/>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4DA4F79B-7A52-499C-A65E-A51F3EDF5C3E}"/>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16" name="Straight Connector 15">
            <a:extLst>
              <a:ext uri="{FF2B5EF4-FFF2-40B4-BE49-F238E27FC236}">
                <a16:creationId xmlns:a16="http://schemas.microsoft.com/office/drawing/2014/main" id="{DD6B6443-C2DA-47C3-A986-5EE935046CC9}"/>
              </a:ext>
            </a:extLst>
          </p:cNvPr>
          <p:cNvCxnSpPr>
            <a:cxnSpLocks/>
          </p:cNvCxnSpPr>
          <p:nvPr/>
        </p:nvCxnSpPr>
        <p:spPr>
          <a:xfrm flipV="1">
            <a:off x="0" y="2596822"/>
            <a:ext cx="7904054" cy="68537"/>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pic>
        <p:nvPicPr>
          <p:cNvPr id="4" name="Picture 3" descr="A close up of a logo&#10;&#10;Description automatically generated">
            <a:extLst>
              <a:ext uri="{FF2B5EF4-FFF2-40B4-BE49-F238E27FC236}">
                <a16:creationId xmlns:a16="http://schemas.microsoft.com/office/drawing/2014/main" id="{6727F4C1-5802-414C-BEF9-8F8DC7D7B65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Tree>
    <p:extLst>
      <p:ext uri="{BB962C8B-B14F-4D97-AF65-F5344CB8AC3E}">
        <p14:creationId xmlns:p14="http://schemas.microsoft.com/office/powerpoint/2010/main" val="18215128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IN" sz="2400" b="1" dirty="0">
                <a:solidFill>
                  <a:schemeClr val="accent2">
                    <a:lumMod val="75000"/>
                  </a:schemeClr>
                </a:solidFill>
              </a:rPr>
              <a:t>Decrease and Conquer</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246885"/>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DESIGN AND ANALYSIS OF ALGORITHMS</a:t>
            </a:r>
          </a:p>
        </p:txBody>
      </p:sp>
      <p:sp>
        <p:nvSpPr>
          <p:cNvPr id="2" name="TextBox 1">
            <a:extLst>
              <a:ext uri="{FF2B5EF4-FFF2-40B4-BE49-F238E27FC236}">
                <a16:creationId xmlns:a16="http://schemas.microsoft.com/office/drawing/2014/main" id="{1D985374-041D-4B8B-8636-0952986242C5}"/>
              </a:ext>
            </a:extLst>
          </p:cNvPr>
          <p:cNvSpPr txBox="1"/>
          <p:nvPr/>
        </p:nvSpPr>
        <p:spPr>
          <a:xfrm>
            <a:off x="142220" y="1234743"/>
            <a:ext cx="8300052" cy="369332"/>
          </a:xfrm>
          <a:prstGeom prst="rect">
            <a:avLst/>
          </a:prstGeom>
          <a:noFill/>
        </p:spPr>
        <p:txBody>
          <a:bodyPr wrap="square" rtlCol="0">
            <a:spAutoFit/>
          </a:bodyPr>
          <a:lstStyle/>
          <a:p>
            <a:r>
              <a:rPr lang="en-IN" sz="1800" b="1" i="0" u="none" strike="noStrike" baseline="0" dirty="0">
                <a:latin typeface="Univers-Bold"/>
              </a:rPr>
              <a:t>Fake-Coin Problem</a:t>
            </a:r>
            <a:endParaRPr lang="en-IN" sz="30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9" name="Rectangle 3">
            <a:extLst>
              <a:ext uri="{FF2B5EF4-FFF2-40B4-BE49-F238E27FC236}">
                <a16:creationId xmlns:a16="http://schemas.microsoft.com/office/drawing/2014/main" id="{74ED0E1A-3D1C-4DA9-9116-8230B6C7672D}"/>
              </a:ext>
            </a:extLst>
          </p:cNvPr>
          <p:cNvSpPr txBox="1">
            <a:spLocks noChangeArrowheads="1"/>
          </p:cNvSpPr>
          <p:nvPr/>
        </p:nvSpPr>
        <p:spPr>
          <a:xfrm>
            <a:off x="609599" y="1513220"/>
            <a:ext cx="8395253" cy="44800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buFont typeface="Monotype Sorts" pitchFamily="2" charset="2"/>
              <a:buNone/>
            </a:pPr>
            <a:br>
              <a:rPr lang="en-US" altLang="en-US" sz="1800" dirty="0"/>
            </a:br>
            <a:br>
              <a:rPr lang="en-US" altLang="en-US" sz="1800" dirty="0"/>
            </a:br>
            <a:br>
              <a:rPr lang="en-US" altLang="en-US" sz="1800" dirty="0"/>
            </a:br>
            <a:br>
              <a:rPr lang="en-US" altLang="en-US" sz="1800" dirty="0"/>
            </a:br>
            <a:endParaRPr lang="en-US" altLang="en-US" sz="1800" dirty="0"/>
          </a:p>
          <a:p>
            <a:pPr marL="0" indent="0">
              <a:lnSpc>
                <a:spcPct val="80000"/>
              </a:lnSpc>
              <a:buFont typeface="Monotype Sorts" pitchFamily="2" charset="2"/>
              <a:buNone/>
            </a:pPr>
            <a:br>
              <a:rPr lang="en-US" altLang="en-US" sz="2000" dirty="0"/>
            </a:br>
            <a:br>
              <a:rPr lang="en-US" altLang="en-US" sz="2000" dirty="0"/>
            </a:br>
            <a:endParaRPr lang="en-US" altLang="en-US" sz="2000" dirty="0"/>
          </a:p>
          <a:p>
            <a:pPr marL="0" indent="0">
              <a:lnSpc>
                <a:spcPct val="80000"/>
              </a:lnSpc>
              <a:buFont typeface="Monotype Sorts" pitchFamily="2" charset="2"/>
              <a:buNone/>
            </a:pPr>
            <a:endParaRPr lang="en-US" altLang="en-US" sz="2000" dirty="0"/>
          </a:p>
          <a:p>
            <a:pPr marL="0" indent="0">
              <a:lnSpc>
                <a:spcPct val="80000"/>
              </a:lnSpc>
            </a:pPr>
            <a:endParaRPr lang="en-US" altLang="en-US" sz="1800" dirty="0"/>
          </a:p>
        </p:txBody>
      </p:sp>
      <p:sp>
        <p:nvSpPr>
          <p:cNvPr id="4" name="TextBox 3">
            <a:extLst>
              <a:ext uri="{FF2B5EF4-FFF2-40B4-BE49-F238E27FC236}">
                <a16:creationId xmlns:a16="http://schemas.microsoft.com/office/drawing/2014/main" id="{FD4BC62E-C5C0-45A9-B429-A442B41BA1BC}"/>
              </a:ext>
            </a:extLst>
          </p:cNvPr>
          <p:cNvSpPr txBox="1"/>
          <p:nvPr/>
        </p:nvSpPr>
        <p:spPr>
          <a:xfrm>
            <a:off x="516835" y="1769160"/>
            <a:ext cx="9640956" cy="4893647"/>
          </a:xfrm>
          <a:prstGeom prst="rect">
            <a:avLst/>
          </a:prstGeom>
          <a:noFill/>
        </p:spPr>
        <p:txBody>
          <a:bodyPr wrap="square" rtlCol="0">
            <a:spAutoFit/>
          </a:bodyPr>
          <a:lstStyle/>
          <a:p>
            <a:pPr algn="just"/>
            <a:r>
              <a:rPr lang="en-IN" sz="24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Among </a:t>
            </a:r>
            <a:r>
              <a:rPr lang="en-IN" sz="2400" b="0" i="1" u="none" strike="noStrike" baseline="0" dirty="0">
                <a:solidFill>
                  <a:schemeClr val="accent1">
                    <a:lumMod val="75000"/>
                  </a:schemeClr>
                </a:solidFill>
                <a:latin typeface="Times New Roman" panose="02020603050405020304" pitchFamily="18" charset="0"/>
                <a:cs typeface="Times New Roman" panose="02020603050405020304" pitchFamily="18" charset="0"/>
              </a:rPr>
              <a:t>n </a:t>
            </a:r>
            <a:r>
              <a:rPr lang="en-US" sz="24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identical-looking coins, one is </a:t>
            </a:r>
            <a:r>
              <a:rPr lang="en-US" sz="2400" b="0" i="0" u="none" strike="noStrike" baseline="0" dirty="0" err="1">
                <a:solidFill>
                  <a:schemeClr val="accent1">
                    <a:lumMod val="75000"/>
                  </a:schemeClr>
                </a:solidFill>
                <a:latin typeface="Times New Roman" panose="02020603050405020304" pitchFamily="18" charset="0"/>
                <a:cs typeface="Times New Roman" panose="02020603050405020304" pitchFamily="18" charset="0"/>
              </a:rPr>
              <a:t>fake.With</a:t>
            </a:r>
            <a:r>
              <a:rPr lang="en-US" sz="24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 a balance scale, we can compare any two </a:t>
            </a:r>
            <a:r>
              <a:rPr lang="en-IN" sz="24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sets of coins.</a:t>
            </a:r>
          </a:p>
          <a:p>
            <a:pPr algn="just"/>
            <a:r>
              <a:rPr lang="en-US" sz="24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The problem is to design an efficient algorithm for detecting the fake coin.</a:t>
            </a:r>
          </a:p>
          <a:p>
            <a:pPr algn="just"/>
            <a:r>
              <a:rPr lang="en-US" sz="24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The most natural idea for solving this problem is to divide </a:t>
            </a:r>
            <a:r>
              <a:rPr lang="en-US" sz="2400" b="0" i="1" u="none" strike="noStrike" baseline="0" dirty="0">
                <a:solidFill>
                  <a:schemeClr val="accent1">
                    <a:lumMod val="75000"/>
                  </a:schemeClr>
                </a:solidFill>
                <a:latin typeface="Times New Roman" panose="02020603050405020304" pitchFamily="18" charset="0"/>
                <a:cs typeface="Times New Roman" panose="02020603050405020304" pitchFamily="18" charset="0"/>
              </a:rPr>
              <a:t>n </a:t>
            </a:r>
            <a:r>
              <a:rPr lang="en-US" sz="24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coins into two piles of </a:t>
            </a:r>
            <a:r>
              <a:rPr lang="en-US" sz="2400" b="0" i="1" u="none" strike="noStrike" baseline="0" dirty="0">
                <a:solidFill>
                  <a:schemeClr val="accent1">
                    <a:lumMod val="75000"/>
                  </a:schemeClr>
                </a:solidFill>
                <a:latin typeface="Times New Roman" panose="02020603050405020304" pitchFamily="18" charset="0"/>
                <a:cs typeface="Times New Roman" panose="02020603050405020304" pitchFamily="18" charset="0"/>
              </a:rPr>
              <a:t>n/</a:t>
            </a:r>
            <a:r>
              <a:rPr lang="en-US" sz="24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2 coins each, leaving one extra coin aside if </a:t>
            </a:r>
            <a:r>
              <a:rPr lang="en-US" sz="2400" b="0" i="1" u="none" strike="noStrike" baseline="0" dirty="0">
                <a:solidFill>
                  <a:schemeClr val="accent1">
                    <a:lumMod val="75000"/>
                  </a:schemeClr>
                </a:solidFill>
                <a:latin typeface="Times New Roman" panose="02020603050405020304" pitchFamily="18" charset="0"/>
                <a:cs typeface="Times New Roman" panose="02020603050405020304" pitchFamily="18" charset="0"/>
              </a:rPr>
              <a:t>n </a:t>
            </a:r>
            <a:r>
              <a:rPr lang="en-US" sz="24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is odd, and put the two </a:t>
            </a:r>
            <a:r>
              <a:rPr lang="en-IN" sz="24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piles on the scale.</a:t>
            </a:r>
          </a:p>
          <a:p>
            <a:pPr algn="just"/>
            <a:r>
              <a:rPr lang="en-US" sz="24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If the piles weigh the same, the coin put aside must be fake; otherwise, we can proceed in the same manner with the lighter pile, which must be the one with the fake coin.</a:t>
            </a:r>
          </a:p>
          <a:p>
            <a:pPr algn="just"/>
            <a:r>
              <a:rPr lang="pl-PL" sz="2400" b="0" i="1" u="none" strike="noStrike" baseline="0" dirty="0">
                <a:solidFill>
                  <a:schemeClr val="accent1">
                    <a:lumMod val="75000"/>
                  </a:schemeClr>
                </a:solidFill>
                <a:latin typeface="Times New Roman" panose="02020603050405020304" pitchFamily="18" charset="0"/>
                <a:cs typeface="Times New Roman" panose="02020603050405020304" pitchFamily="18" charset="0"/>
              </a:rPr>
              <a:t>W(n) </a:t>
            </a:r>
            <a:r>
              <a:rPr lang="pl-PL" sz="24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 </a:t>
            </a:r>
            <a:r>
              <a:rPr lang="pl-PL" sz="2400" b="0" i="1" u="none" strike="noStrike" baseline="0" dirty="0">
                <a:solidFill>
                  <a:schemeClr val="accent1">
                    <a:lumMod val="75000"/>
                  </a:schemeClr>
                </a:solidFill>
                <a:latin typeface="Times New Roman" panose="02020603050405020304" pitchFamily="18" charset="0"/>
                <a:cs typeface="Times New Roman" panose="02020603050405020304" pitchFamily="18" charset="0"/>
              </a:rPr>
              <a:t>W(n/</a:t>
            </a:r>
            <a:r>
              <a:rPr lang="pl-PL" sz="24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2</a:t>
            </a:r>
            <a:r>
              <a:rPr lang="pl-PL" sz="2400" b="0" i="1" u="none" strike="noStrike" baseline="0" dirty="0">
                <a:solidFill>
                  <a:schemeClr val="accent1">
                    <a:lumMod val="75000"/>
                  </a:schemeClr>
                </a:solidFill>
                <a:latin typeface="Times New Roman" panose="02020603050405020304" pitchFamily="18" charset="0"/>
                <a:cs typeface="Times New Roman" panose="02020603050405020304" pitchFamily="18" charset="0"/>
              </a:rPr>
              <a:t>) </a:t>
            </a:r>
            <a:r>
              <a:rPr lang="pl-PL" sz="24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+ 1 for </a:t>
            </a:r>
            <a:r>
              <a:rPr lang="pl-PL" sz="2400" b="0" i="1" u="none" strike="noStrike" baseline="0" dirty="0">
                <a:solidFill>
                  <a:schemeClr val="accent1">
                    <a:lumMod val="75000"/>
                  </a:schemeClr>
                </a:solidFill>
                <a:latin typeface="Times New Roman" panose="02020603050405020304" pitchFamily="18" charset="0"/>
                <a:cs typeface="Times New Roman" panose="02020603050405020304" pitchFamily="18" charset="0"/>
              </a:rPr>
              <a:t>n &gt; </a:t>
            </a:r>
            <a:r>
              <a:rPr lang="pl-PL" sz="24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1</a:t>
            </a:r>
            <a:r>
              <a:rPr lang="pl-PL" sz="2400" b="0" i="1" u="none" strike="noStrike" baseline="0" dirty="0">
                <a:solidFill>
                  <a:schemeClr val="accent1">
                    <a:lumMod val="75000"/>
                  </a:schemeClr>
                </a:solidFill>
                <a:latin typeface="Times New Roman" panose="02020603050405020304" pitchFamily="18" charset="0"/>
                <a:cs typeface="Times New Roman" panose="02020603050405020304" pitchFamily="18" charset="0"/>
              </a:rPr>
              <a:t>, W(</a:t>
            </a:r>
            <a:r>
              <a:rPr lang="pl-PL" sz="24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1</a:t>
            </a:r>
            <a:r>
              <a:rPr lang="pl-PL" sz="2400" b="0" i="1" u="none" strike="noStrike" baseline="0" dirty="0">
                <a:solidFill>
                  <a:schemeClr val="accent1">
                    <a:lumMod val="75000"/>
                  </a:schemeClr>
                </a:solidFill>
                <a:latin typeface="Times New Roman" panose="02020603050405020304" pitchFamily="18" charset="0"/>
                <a:cs typeface="Times New Roman" panose="02020603050405020304" pitchFamily="18" charset="0"/>
              </a:rPr>
              <a:t>) </a:t>
            </a:r>
            <a:r>
              <a:rPr lang="pl-PL" sz="24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 0</a:t>
            </a:r>
            <a:r>
              <a:rPr lang="pl-PL" sz="2400" b="0" i="1" u="none" strike="noStrike" baseline="0" dirty="0">
                <a:solidFill>
                  <a:schemeClr val="accent1">
                    <a:lumMod val="75000"/>
                  </a:schemeClr>
                </a:solidFill>
                <a:latin typeface="Times New Roman" panose="02020603050405020304" pitchFamily="18" charset="0"/>
                <a:cs typeface="Times New Roman" panose="02020603050405020304" pitchFamily="18" charset="0"/>
              </a:rPr>
              <a:t>.</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a:p>
            <a:pPr algn="just"/>
            <a:r>
              <a:rPr lang="en-IN" sz="2400" b="0" i="1" u="none" strike="noStrike" baseline="0" dirty="0">
                <a:solidFill>
                  <a:schemeClr val="accent1">
                    <a:lumMod val="75000"/>
                  </a:schemeClr>
                </a:solidFill>
                <a:latin typeface="Times New Roman" panose="02020603050405020304" pitchFamily="18" charset="0"/>
                <a:cs typeface="Times New Roman" panose="02020603050405020304" pitchFamily="18" charset="0"/>
              </a:rPr>
              <a:t>W(n) </a:t>
            </a:r>
            <a:r>
              <a:rPr lang="en-IN" sz="24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 log</a:t>
            </a:r>
            <a:r>
              <a:rPr lang="en-IN" sz="2400" b="0" i="0" u="none" strike="noStrike" baseline="-25000" dirty="0">
                <a:solidFill>
                  <a:schemeClr val="accent1">
                    <a:lumMod val="75000"/>
                  </a:schemeClr>
                </a:solidFill>
                <a:latin typeface="Times New Roman" panose="02020603050405020304" pitchFamily="18" charset="0"/>
                <a:cs typeface="Times New Roman" panose="02020603050405020304" pitchFamily="18" charset="0"/>
              </a:rPr>
              <a:t>2 </a:t>
            </a:r>
            <a:r>
              <a:rPr lang="en-IN" sz="2400" b="0" i="1" u="none" strike="noStrike" baseline="0" dirty="0">
                <a:solidFill>
                  <a:schemeClr val="accent1">
                    <a:lumMod val="75000"/>
                  </a:schemeClr>
                </a:solidFill>
                <a:latin typeface="Times New Roman" panose="02020603050405020304" pitchFamily="18" charset="0"/>
                <a:cs typeface="Times New Roman" panose="02020603050405020304" pitchFamily="18" charset="0"/>
              </a:rPr>
              <a:t>n.</a:t>
            </a:r>
          </a:p>
          <a:p>
            <a:pPr algn="just"/>
            <a:r>
              <a:rPr lang="en-US" sz="24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It would be more efficient to divide the coins not into two but into </a:t>
            </a:r>
            <a:r>
              <a:rPr lang="en-US" sz="2400" b="0" i="1" u="none" strike="noStrike" baseline="0" dirty="0">
                <a:solidFill>
                  <a:schemeClr val="accent1">
                    <a:lumMod val="75000"/>
                  </a:schemeClr>
                </a:solidFill>
                <a:latin typeface="Times New Roman" panose="02020603050405020304" pitchFamily="18" charset="0"/>
                <a:cs typeface="Times New Roman" panose="02020603050405020304" pitchFamily="18" charset="0"/>
              </a:rPr>
              <a:t>three </a:t>
            </a:r>
            <a:r>
              <a:rPr lang="en-US" sz="24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piles of about </a:t>
            </a:r>
            <a:r>
              <a:rPr lang="en-US" sz="2400" b="0" i="1" u="none" strike="noStrike" baseline="0" dirty="0">
                <a:solidFill>
                  <a:schemeClr val="accent1">
                    <a:lumMod val="75000"/>
                  </a:schemeClr>
                </a:solidFill>
                <a:latin typeface="Times New Roman" panose="02020603050405020304" pitchFamily="18" charset="0"/>
                <a:cs typeface="Times New Roman" panose="02020603050405020304" pitchFamily="18" charset="0"/>
              </a:rPr>
              <a:t>n/</a:t>
            </a:r>
            <a:r>
              <a:rPr lang="en-US" sz="24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3 coins each.</a:t>
            </a:r>
            <a:endParaRPr lang="en-IN" sz="2400" dirty="0">
              <a:solidFill>
                <a:schemeClr val="accent1">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5385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IN" sz="2400" b="1" dirty="0">
                <a:solidFill>
                  <a:schemeClr val="accent2">
                    <a:lumMod val="75000"/>
                  </a:schemeClr>
                </a:solidFill>
              </a:rPr>
              <a:t>Decrease and Conquer</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246885"/>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DESIGN AND ANALYSIS OF ALGORITHMS</a:t>
            </a:r>
          </a:p>
        </p:txBody>
      </p:sp>
      <p:sp>
        <p:nvSpPr>
          <p:cNvPr id="2" name="TextBox 1">
            <a:extLst>
              <a:ext uri="{FF2B5EF4-FFF2-40B4-BE49-F238E27FC236}">
                <a16:creationId xmlns:a16="http://schemas.microsoft.com/office/drawing/2014/main" id="{1D985374-041D-4B8B-8636-0952986242C5}"/>
              </a:ext>
            </a:extLst>
          </p:cNvPr>
          <p:cNvSpPr txBox="1"/>
          <p:nvPr/>
        </p:nvSpPr>
        <p:spPr>
          <a:xfrm>
            <a:off x="142220" y="1314255"/>
            <a:ext cx="8300052" cy="461665"/>
          </a:xfrm>
          <a:prstGeom prst="rect">
            <a:avLst/>
          </a:prstGeom>
          <a:noFill/>
        </p:spPr>
        <p:txBody>
          <a:bodyPr wrap="square" rtlCol="0">
            <a:spAutoFit/>
          </a:bodyPr>
          <a:lstStyle/>
          <a:p>
            <a:r>
              <a:rPr lang="en-IN" sz="2400" b="1"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Russian Peasant Multiplication</a:t>
            </a:r>
            <a:endParaRPr lang="en-IN" sz="24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9" name="Rectangle 3">
            <a:extLst>
              <a:ext uri="{FF2B5EF4-FFF2-40B4-BE49-F238E27FC236}">
                <a16:creationId xmlns:a16="http://schemas.microsoft.com/office/drawing/2014/main" id="{74ED0E1A-3D1C-4DA9-9116-8230B6C7672D}"/>
              </a:ext>
            </a:extLst>
          </p:cNvPr>
          <p:cNvSpPr txBox="1">
            <a:spLocks noChangeArrowheads="1"/>
          </p:cNvSpPr>
          <p:nvPr/>
        </p:nvSpPr>
        <p:spPr>
          <a:xfrm>
            <a:off x="609599" y="1513220"/>
            <a:ext cx="8395253" cy="44800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buFont typeface="Monotype Sorts" pitchFamily="2" charset="2"/>
              <a:buNone/>
            </a:pPr>
            <a:br>
              <a:rPr lang="en-US" altLang="en-US" sz="1800" dirty="0"/>
            </a:br>
            <a:br>
              <a:rPr lang="en-US" altLang="en-US" sz="1800" dirty="0"/>
            </a:br>
            <a:br>
              <a:rPr lang="en-US" altLang="en-US" sz="1800" dirty="0"/>
            </a:br>
            <a:br>
              <a:rPr lang="en-US" altLang="en-US" sz="1800" dirty="0"/>
            </a:br>
            <a:endParaRPr lang="en-US" altLang="en-US" sz="1800" dirty="0"/>
          </a:p>
          <a:p>
            <a:pPr marL="0" indent="0">
              <a:lnSpc>
                <a:spcPct val="80000"/>
              </a:lnSpc>
              <a:buFont typeface="Monotype Sorts" pitchFamily="2" charset="2"/>
              <a:buNone/>
            </a:pPr>
            <a:br>
              <a:rPr lang="en-US" altLang="en-US" sz="2000" dirty="0"/>
            </a:br>
            <a:br>
              <a:rPr lang="en-US" altLang="en-US" sz="2000" dirty="0"/>
            </a:br>
            <a:endParaRPr lang="en-US" altLang="en-US" sz="2000" dirty="0"/>
          </a:p>
          <a:p>
            <a:pPr marL="0" indent="0">
              <a:lnSpc>
                <a:spcPct val="80000"/>
              </a:lnSpc>
              <a:buFont typeface="Monotype Sorts" pitchFamily="2" charset="2"/>
              <a:buNone/>
            </a:pPr>
            <a:endParaRPr lang="en-US" altLang="en-US" sz="2000" dirty="0"/>
          </a:p>
          <a:p>
            <a:pPr marL="0" indent="0">
              <a:lnSpc>
                <a:spcPct val="80000"/>
              </a:lnSpc>
            </a:pPr>
            <a:endParaRPr lang="en-US" altLang="en-US" sz="1800" dirty="0"/>
          </a:p>
        </p:txBody>
      </p:sp>
      <p:sp>
        <p:nvSpPr>
          <p:cNvPr id="4" name="TextBox 3">
            <a:extLst>
              <a:ext uri="{FF2B5EF4-FFF2-40B4-BE49-F238E27FC236}">
                <a16:creationId xmlns:a16="http://schemas.microsoft.com/office/drawing/2014/main" id="{FD4BC62E-C5C0-45A9-B429-A442B41BA1BC}"/>
              </a:ext>
            </a:extLst>
          </p:cNvPr>
          <p:cNvSpPr txBox="1"/>
          <p:nvPr/>
        </p:nvSpPr>
        <p:spPr>
          <a:xfrm>
            <a:off x="516835" y="2196548"/>
            <a:ext cx="9680713" cy="4524315"/>
          </a:xfrm>
          <a:prstGeom prst="rect">
            <a:avLst/>
          </a:prstGeom>
          <a:noFill/>
        </p:spPr>
        <p:txBody>
          <a:bodyPr wrap="square" rtlCol="0">
            <a:spAutoFit/>
          </a:bodyPr>
          <a:lstStyle/>
          <a:p>
            <a:pPr algn="just"/>
            <a:r>
              <a:rPr lang="en-IN" sz="24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Let </a:t>
            </a:r>
            <a:r>
              <a:rPr lang="en-IN" sz="2400" b="0" i="1" u="none" strike="noStrike" baseline="0" dirty="0">
                <a:solidFill>
                  <a:schemeClr val="accent1">
                    <a:lumMod val="75000"/>
                  </a:schemeClr>
                </a:solidFill>
                <a:latin typeface="Times New Roman" panose="02020603050405020304" pitchFamily="18" charset="0"/>
                <a:cs typeface="Times New Roman" panose="02020603050405020304" pitchFamily="18" charset="0"/>
              </a:rPr>
              <a:t>n </a:t>
            </a:r>
            <a:r>
              <a:rPr lang="en-IN" sz="24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and </a:t>
            </a:r>
            <a:r>
              <a:rPr lang="en-IN" sz="2400" b="0" i="1" u="none" strike="noStrike" baseline="0" dirty="0">
                <a:solidFill>
                  <a:schemeClr val="accent1">
                    <a:lumMod val="75000"/>
                  </a:schemeClr>
                </a:solidFill>
                <a:latin typeface="Times New Roman" panose="02020603050405020304" pitchFamily="18" charset="0"/>
                <a:cs typeface="Times New Roman" panose="02020603050405020304" pitchFamily="18" charset="0"/>
              </a:rPr>
              <a:t>m </a:t>
            </a:r>
            <a:r>
              <a:rPr lang="en-US" sz="24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be positive integers whose product we want to compute, and let us measure the instance size by the value of </a:t>
            </a:r>
            <a:r>
              <a:rPr lang="en-US" sz="2400" b="0" i="1" u="none" strike="noStrike" baseline="0" dirty="0">
                <a:solidFill>
                  <a:schemeClr val="accent1">
                    <a:lumMod val="75000"/>
                  </a:schemeClr>
                </a:solidFill>
                <a:latin typeface="Times New Roman" panose="02020603050405020304" pitchFamily="18" charset="0"/>
                <a:cs typeface="Times New Roman" panose="02020603050405020304" pitchFamily="18" charset="0"/>
              </a:rPr>
              <a:t>n</a:t>
            </a:r>
            <a:r>
              <a:rPr lang="en-US" sz="24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a:t>
            </a:r>
          </a:p>
          <a:p>
            <a:pPr algn="just"/>
            <a:r>
              <a:rPr lang="en-US" sz="24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if </a:t>
            </a:r>
            <a:r>
              <a:rPr lang="en-US" sz="2400" b="0" i="1" u="none" strike="noStrike" baseline="0" dirty="0">
                <a:solidFill>
                  <a:schemeClr val="accent1">
                    <a:lumMod val="75000"/>
                  </a:schemeClr>
                </a:solidFill>
                <a:latin typeface="Times New Roman" panose="02020603050405020304" pitchFamily="18" charset="0"/>
                <a:cs typeface="Times New Roman" panose="02020603050405020304" pitchFamily="18" charset="0"/>
              </a:rPr>
              <a:t>n </a:t>
            </a:r>
            <a:r>
              <a:rPr lang="en-US" sz="24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is even, an instance of half the size has to deal with </a:t>
            </a:r>
            <a:r>
              <a:rPr lang="en-US" sz="2400" b="0" i="1" u="none" strike="noStrike" baseline="0" dirty="0">
                <a:solidFill>
                  <a:schemeClr val="accent1">
                    <a:lumMod val="75000"/>
                  </a:schemeClr>
                </a:solidFill>
                <a:latin typeface="Times New Roman" panose="02020603050405020304" pitchFamily="18" charset="0"/>
                <a:cs typeface="Times New Roman" panose="02020603050405020304" pitchFamily="18" charset="0"/>
              </a:rPr>
              <a:t>n/</a:t>
            </a:r>
            <a:r>
              <a:rPr lang="en-US" sz="24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2, and we have an obvious formula relating the solution to the problem’s larger instance to the solution to the smaller one:</a:t>
            </a:r>
          </a:p>
          <a:p>
            <a:pPr algn="just"/>
            <a:r>
              <a:rPr lang="en-IN" sz="2400" b="0" i="1" u="none" strike="noStrike" baseline="0" dirty="0">
                <a:solidFill>
                  <a:schemeClr val="accent1">
                    <a:lumMod val="75000"/>
                  </a:schemeClr>
                </a:solidFill>
                <a:latin typeface="Times New Roman" panose="02020603050405020304" pitchFamily="18" charset="0"/>
                <a:cs typeface="Times New Roman" panose="02020603050405020304" pitchFamily="18" charset="0"/>
              </a:rPr>
              <a:t>n . m </a:t>
            </a:r>
            <a:r>
              <a:rPr lang="en-IN" sz="24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 (</a:t>
            </a:r>
            <a:r>
              <a:rPr lang="en-IN" sz="2400" b="0" i="1" u="none" strike="noStrike" baseline="0" dirty="0">
                <a:solidFill>
                  <a:schemeClr val="accent1">
                    <a:lumMod val="75000"/>
                  </a:schemeClr>
                </a:solidFill>
                <a:latin typeface="Times New Roman" panose="02020603050405020304" pitchFamily="18" charset="0"/>
                <a:cs typeface="Times New Roman" panose="02020603050405020304" pitchFamily="18" charset="0"/>
              </a:rPr>
              <a:t>n/2 )* 2m</a:t>
            </a:r>
          </a:p>
          <a:p>
            <a:pPr algn="just"/>
            <a:endParaRPr lang="en-IN" sz="2400" i="1" dirty="0">
              <a:solidFill>
                <a:schemeClr val="accent1">
                  <a:lumMod val="75000"/>
                </a:schemeClr>
              </a:solidFill>
              <a:latin typeface="Times New Roman" panose="02020603050405020304" pitchFamily="18" charset="0"/>
              <a:cs typeface="Times New Roman" panose="02020603050405020304" pitchFamily="18" charset="0"/>
            </a:endParaRPr>
          </a:p>
          <a:p>
            <a:pPr algn="just"/>
            <a:r>
              <a:rPr lang="en-US" sz="24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If </a:t>
            </a:r>
            <a:r>
              <a:rPr lang="en-US" sz="2400" b="0" i="1" u="none" strike="noStrike" baseline="0" dirty="0">
                <a:solidFill>
                  <a:schemeClr val="accent1">
                    <a:lumMod val="75000"/>
                  </a:schemeClr>
                </a:solidFill>
                <a:latin typeface="Times New Roman" panose="02020603050405020304" pitchFamily="18" charset="0"/>
                <a:cs typeface="Times New Roman" panose="02020603050405020304" pitchFamily="18" charset="0"/>
              </a:rPr>
              <a:t>n </a:t>
            </a:r>
            <a:r>
              <a:rPr lang="en-US" sz="24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is odd, we need only a slight adjustment of this formula:</a:t>
            </a:r>
          </a:p>
          <a:p>
            <a:pPr algn="just"/>
            <a:r>
              <a:rPr lang="en-IN" sz="2400" b="0" i="1" u="none" strike="noStrike" baseline="0" dirty="0">
                <a:solidFill>
                  <a:schemeClr val="accent1">
                    <a:lumMod val="75000"/>
                  </a:schemeClr>
                </a:solidFill>
                <a:latin typeface="Times New Roman" panose="02020603050405020304" pitchFamily="18" charset="0"/>
                <a:cs typeface="Times New Roman" panose="02020603050405020304" pitchFamily="18" charset="0"/>
              </a:rPr>
              <a:t>n . m </a:t>
            </a:r>
            <a:r>
              <a:rPr lang="en-IN" sz="24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 ((</a:t>
            </a:r>
            <a:r>
              <a:rPr lang="en-IN" sz="2400" b="0" i="1" u="none" strike="noStrike" baseline="0" dirty="0">
                <a:solidFill>
                  <a:schemeClr val="accent1">
                    <a:lumMod val="75000"/>
                  </a:schemeClr>
                </a:solidFill>
                <a:latin typeface="Times New Roman" panose="02020603050405020304" pitchFamily="18" charset="0"/>
                <a:cs typeface="Times New Roman" panose="02020603050405020304" pitchFamily="18" charset="0"/>
              </a:rPr>
              <a:t>n </a:t>
            </a:r>
            <a:r>
              <a:rPr lang="en-IN" sz="24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− 1)/2 )</a:t>
            </a:r>
            <a:r>
              <a:rPr lang="en-IN" sz="2400" b="0" i="1" u="none" strike="noStrike" baseline="0" dirty="0">
                <a:solidFill>
                  <a:schemeClr val="accent1">
                    <a:lumMod val="75000"/>
                  </a:schemeClr>
                </a:solidFill>
                <a:latin typeface="Times New Roman" panose="02020603050405020304" pitchFamily="18" charset="0"/>
                <a:cs typeface="Times New Roman" panose="02020603050405020304" pitchFamily="18" charset="0"/>
              </a:rPr>
              <a:t>. </a:t>
            </a:r>
            <a:r>
              <a:rPr lang="en-IN" sz="24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2</a:t>
            </a:r>
            <a:r>
              <a:rPr lang="en-IN" sz="2400" b="0" i="1" u="none" strike="noStrike" baseline="0" dirty="0">
                <a:solidFill>
                  <a:schemeClr val="accent1">
                    <a:lumMod val="75000"/>
                  </a:schemeClr>
                </a:solidFill>
                <a:latin typeface="Times New Roman" panose="02020603050405020304" pitchFamily="18" charset="0"/>
                <a:cs typeface="Times New Roman" panose="02020603050405020304" pitchFamily="18" charset="0"/>
              </a:rPr>
              <a:t>m </a:t>
            </a:r>
            <a:r>
              <a:rPr lang="en-IN" sz="24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 </a:t>
            </a:r>
            <a:r>
              <a:rPr lang="en-IN" sz="2400" b="0" i="1" u="none" strike="noStrike" baseline="0" dirty="0">
                <a:solidFill>
                  <a:schemeClr val="accent1">
                    <a:lumMod val="75000"/>
                  </a:schemeClr>
                </a:solidFill>
                <a:latin typeface="Times New Roman" panose="02020603050405020304" pitchFamily="18" charset="0"/>
                <a:cs typeface="Times New Roman" panose="02020603050405020304" pitchFamily="18" charset="0"/>
              </a:rPr>
              <a:t>m.</a:t>
            </a:r>
          </a:p>
          <a:p>
            <a:pPr algn="just"/>
            <a:r>
              <a:rPr lang="en-US" sz="24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Using these formulas and the trivial case of 1 </a:t>
            </a:r>
            <a:r>
              <a:rPr lang="en-US" sz="2400" b="0" i="1" u="none" strike="noStrike" baseline="0" dirty="0">
                <a:solidFill>
                  <a:schemeClr val="accent1">
                    <a:lumMod val="75000"/>
                  </a:schemeClr>
                </a:solidFill>
                <a:latin typeface="Times New Roman" panose="02020603050405020304" pitchFamily="18" charset="0"/>
                <a:cs typeface="Times New Roman" panose="02020603050405020304" pitchFamily="18" charset="0"/>
              </a:rPr>
              <a:t>. m </a:t>
            </a:r>
            <a:r>
              <a:rPr lang="en-US" sz="24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 </a:t>
            </a:r>
            <a:r>
              <a:rPr lang="en-US" sz="2400" b="0" i="1" u="none" strike="noStrike" baseline="0" dirty="0">
                <a:solidFill>
                  <a:schemeClr val="accent1">
                    <a:lumMod val="75000"/>
                  </a:schemeClr>
                </a:solidFill>
                <a:latin typeface="Times New Roman" panose="02020603050405020304" pitchFamily="18" charset="0"/>
                <a:cs typeface="Times New Roman" panose="02020603050405020304" pitchFamily="18" charset="0"/>
              </a:rPr>
              <a:t>m </a:t>
            </a:r>
            <a:r>
              <a:rPr lang="en-US" sz="24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to stop, we can compute product </a:t>
            </a:r>
            <a:r>
              <a:rPr lang="en-US" sz="2400" b="0" i="1" u="none" strike="noStrike" baseline="0" dirty="0">
                <a:solidFill>
                  <a:schemeClr val="accent1">
                    <a:lumMod val="75000"/>
                  </a:schemeClr>
                </a:solidFill>
                <a:latin typeface="Times New Roman" panose="02020603050405020304" pitchFamily="18" charset="0"/>
                <a:cs typeface="Times New Roman" panose="02020603050405020304" pitchFamily="18" charset="0"/>
              </a:rPr>
              <a:t>n . m </a:t>
            </a:r>
            <a:r>
              <a:rPr lang="en-US" sz="24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either recursively or iteratively.</a:t>
            </a:r>
            <a:endParaRPr lang="en-IN" sz="2400" b="0" i="1" u="none" strike="noStrike" baseline="0" dirty="0">
              <a:solidFill>
                <a:schemeClr val="accent1">
                  <a:lumMod val="75000"/>
                </a:schemeClr>
              </a:solidFill>
              <a:latin typeface="Times New Roman" panose="02020603050405020304" pitchFamily="18" charset="0"/>
              <a:cs typeface="Times New Roman" panose="02020603050405020304" pitchFamily="18" charset="0"/>
            </a:endParaRPr>
          </a:p>
          <a:p>
            <a:pPr algn="just"/>
            <a:endParaRPr lang="en-IN" sz="2400" dirty="0">
              <a:solidFill>
                <a:schemeClr val="accent1">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07078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IN" sz="2400" b="1" dirty="0">
                <a:solidFill>
                  <a:schemeClr val="accent2">
                    <a:lumMod val="75000"/>
                  </a:schemeClr>
                </a:solidFill>
              </a:rPr>
              <a:t>Decrease and Conquer</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246885"/>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DESIGN AND ANALYSIS OF ALGORITHMS</a:t>
            </a:r>
          </a:p>
        </p:txBody>
      </p:sp>
      <p:sp>
        <p:nvSpPr>
          <p:cNvPr id="9" name="Rectangle 3">
            <a:extLst>
              <a:ext uri="{FF2B5EF4-FFF2-40B4-BE49-F238E27FC236}">
                <a16:creationId xmlns:a16="http://schemas.microsoft.com/office/drawing/2014/main" id="{74ED0E1A-3D1C-4DA9-9116-8230B6C7672D}"/>
              </a:ext>
            </a:extLst>
          </p:cNvPr>
          <p:cNvSpPr txBox="1">
            <a:spLocks noChangeArrowheads="1"/>
          </p:cNvSpPr>
          <p:nvPr/>
        </p:nvSpPr>
        <p:spPr>
          <a:xfrm>
            <a:off x="609599" y="1513220"/>
            <a:ext cx="8395253" cy="44800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buFont typeface="Monotype Sorts" pitchFamily="2" charset="2"/>
              <a:buNone/>
            </a:pPr>
            <a:br>
              <a:rPr lang="en-US" altLang="en-US" sz="1800" dirty="0"/>
            </a:br>
            <a:br>
              <a:rPr lang="en-US" altLang="en-US" sz="1800" dirty="0"/>
            </a:br>
            <a:br>
              <a:rPr lang="en-US" altLang="en-US" sz="1800" dirty="0"/>
            </a:br>
            <a:br>
              <a:rPr lang="en-US" altLang="en-US" sz="1800" dirty="0"/>
            </a:br>
            <a:endParaRPr lang="en-US" altLang="en-US" sz="1800" dirty="0"/>
          </a:p>
          <a:p>
            <a:pPr marL="0" indent="0">
              <a:lnSpc>
                <a:spcPct val="80000"/>
              </a:lnSpc>
              <a:buFont typeface="Monotype Sorts" pitchFamily="2" charset="2"/>
              <a:buNone/>
            </a:pPr>
            <a:br>
              <a:rPr lang="en-US" altLang="en-US" sz="2000" dirty="0"/>
            </a:br>
            <a:br>
              <a:rPr lang="en-US" altLang="en-US" sz="2000" dirty="0"/>
            </a:br>
            <a:endParaRPr lang="en-US" altLang="en-US" sz="2000" dirty="0"/>
          </a:p>
          <a:p>
            <a:pPr marL="0" indent="0">
              <a:lnSpc>
                <a:spcPct val="80000"/>
              </a:lnSpc>
              <a:buFont typeface="Monotype Sorts" pitchFamily="2" charset="2"/>
              <a:buNone/>
            </a:pPr>
            <a:endParaRPr lang="en-US" altLang="en-US" sz="2000" dirty="0"/>
          </a:p>
          <a:p>
            <a:pPr marL="0" indent="0">
              <a:lnSpc>
                <a:spcPct val="80000"/>
              </a:lnSpc>
            </a:pPr>
            <a:endParaRPr lang="en-US" altLang="en-US" sz="1800" dirty="0"/>
          </a:p>
        </p:txBody>
      </p:sp>
      <p:pic>
        <p:nvPicPr>
          <p:cNvPr id="4" name="Picture 3">
            <a:extLst>
              <a:ext uri="{FF2B5EF4-FFF2-40B4-BE49-F238E27FC236}">
                <a16:creationId xmlns:a16="http://schemas.microsoft.com/office/drawing/2014/main" id="{FA0F9A4D-B5A8-4EB4-A5C2-35A0609BF3AB}"/>
              </a:ext>
            </a:extLst>
          </p:cNvPr>
          <p:cNvPicPr>
            <a:picLocks noChangeAspect="1"/>
          </p:cNvPicPr>
          <p:nvPr/>
        </p:nvPicPr>
        <p:blipFill>
          <a:blip r:embed="rId3"/>
          <a:stretch>
            <a:fillRect/>
          </a:stretch>
        </p:blipFill>
        <p:spPr>
          <a:xfrm>
            <a:off x="1021129" y="1513220"/>
            <a:ext cx="8433072" cy="4480069"/>
          </a:xfrm>
          <a:prstGeom prst="rect">
            <a:avLst/>
          </a:prstGeom>
        </p:spPr>
      </p:pic>
    </p:spTree>
    <p:extLst>
      <p:ext uri="{BB962C8B-B14F-4D97-AF65-F5344CB8AC3E}">
        <p14:creationId xmlns:p14="http://schemas.microsoft.com/office/powerpoint/2010/main" val="3793301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IN" sz="2400" b="1" dirty="0">
                <a:solidFill>
                  <a:schemeClr val="accent2">
                    <a:lumMod val="75000"/>
                  </a:schemeClr>
                </a:solidFill>
              </a:rPr>
              <a:t>Decrease and Conquer</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246885"/>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DESIGN AND ANALYSIS OF ALGORITHMS</a:t>
            </a:r>
          </a:p>
        </p:txBody>
      </p:sp>
      <p:sp>
        <p:nvSpPr>
          <p:cNvPr id="2" name="TextBox 1">
            <a:extLst>
              <a:ext uri="{FF2B5EF4-FFF2-40B4-BE49-F238E27FC236}">
                <a16:creationId xmlns:a16="http://schemas.microsoft.com/office/drawing/2014/main" id="{1D985374-041D-4B8B-8636-0952986242C5}"/>
              </a:ext>
            </a:extLst>
          </p:cNvPr>
          <p:cNvSpPr txBox="1"/>
          <p:nvPr/>
        </p:nvSpPr>
        <p:spPr>
          <a:xfrm>
            <a:off x="142220" y="1314255"/>
            <a:ext cx="8300052" cy="461665"/>
          </a:xfrm>
          <a:prstGeom prst="rect">
            <a:avLst/>
          </a:prstGeom>
          <a:noFill/>
        </p:spPr>
        <p:txBody>
          <a:bodyPr wrap="square" rtlCol="0">
            <a:spAutoFit/>
          </a:bodyPr>
          <a:lstStyle/>
          <a:p>
            <a:r>
              <a:rPr lang="en-IN" sz="2400" b="1" i="1" u="none" strike="noStrike" baseline="0" dirty="0">
                <a:solidFill>
                  <a:schemeClr val="accent1">
                    <a:lumMod val="75000"/>
                  </a:schemeClr>
                </a:solidFill>
                <a:latin typeface="TimesTen-BoldItalic"/>
              </a:rPr>
              <a:t>Josephus problem</a:t>
            </a:r>
            <a:endParaRPr lang="en-IN" sz="24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9" name="Rectangle 3">
            <a:extLst>
              <a:ext uri="{FF2B5EF4-FFF2-40B4-BE49-F238E27FC236}">
                <a16:creationId xmlns:a16="http://schemas.microsoft.com/office/drawing/2014/main" id="{74ED0E1A-3D1C-4DA9-9116-8230B6C7672D}"/>
              </a:ext>
            </a:extLst>
          </p:cNvPr>
          <p:cNvSpPr txBox="1">
            <a:spLocks noChangeArrowheads="1"/>
          </p:cNvSpPr>
          <p:nvPr/>
        </p:nvSpPr>
        <p:spPr>
          <a:xfrm>
            <a:off x="609599" y="1513220"/>
            <a:ext cx="8395253" cy="44800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buFont typeface="Monotype Sorts" pitchFamily="2" charset="2"/>
              <a:buNone/>
            </a:pPr>
            <a:br>
              <a:rPr lang="en-US" altLang="en-US" sz="1800" dirty="0"/>
            </a:br>
            <a:br>
              <a:rPr lang="en-US" altLang="en-US" sz="1800" dirty="0"/>
            </a:br>
            <a:br>
              <a:rPr lang="en-US" altLang="en-US" sz="1800" dirty="0"/>
            </a:br>
            <a:br>
              <a:rPr lang="en-US" altLang="en-US" sz="1800" dirty="0"/>
            </a:br>
            <a:endParaRPr lang="en-US" altLang="en-US" sz="1800" dirty="0"/>
          </a:p>
          <a:p>
            <a:pPr marL="0" indent="0">
              <a:lnSpc>
                <a:spcPct val="80000"/>
              </a:lnSpc>
              <a:buFont typeface="Monotype Sorts" pitchFamily="2" charset="2"/>
              <a:buNone/>
            </a:pPr>
            <a:br>
              <a:rPr lang="en-US" altLang="en-US" sz="2000" dirty="0"/>
            </a:br>
            <a:br>
              <a:rPr lang="en-US" altLang="en-US" sz="2000" dirty="0"/>
            </a:br>
            <a:endParaRPr lang="en-US" altLang="en-US" sz="2000" dirty="0"/>
          </a:p>
          <a:p>
            <a:pPr marL="0" indent="0">
              <a:lnSpc>
                <a:spcPct val="80000"/>
              </a:lnSpc>
              <a:buFont typeface="Monotype Sorts" pitchFamily="2" charset="2"/>
              <a:buNone/>
            </a:pPr>
            <a:endParaRPr lang="en-US" altLang="en-US" sz="2000" dirty="0"/>
          </a:p>
          <a:p>
            <a:pPr marL="0" indent="0">
              <a:lnSpc>
                <a:spcPct val="80000"/>
              </a:lnSpc>
            </a:pPr>
            <a:endParaRPr lang="en-US" altLang="en-US" sz="1800" dirty="0"/>
          </a:p>
        </p:txBody>
      </p:sp>
      <p:sp>
        <p:nvSpPr>
          <p:cNvPr id="4" name="TextBox 3">
            <a:extLst>
              <a:ext uri="{FF2B5EF4-FFF2-40B4-BE49-F238E27FC236}">
                <a16:creationId xmlns:a16="http://schemas.microsoft.com/office/drawing/2014/main" id="{FD4BC62E-C5C0-45A9-B429-A442B41BA1BC}"/>
              </a:ext>
            </a:extLst>
          </p:cNvPr>
          <p:cNvSpPr txBox="1"/>
          <p:nvPr/>
        </p:nvSpPr>
        <p:spPr>
          <a:xfrm>
            <a:off x="516835" y="2196548"/>
            <a:ext cx="9680713" cy="3416320"/>
          </a:xfrm>
          <a:prstGeom prst="rect">
            <a:avLst/>
          </a:prstGeom>
          <a:noFill/>
        </p:spPr>
        <p:txBody>
          <a:bodyPr wrap="square" rtlCol="0">
            <a:spAutoFit/>
          </a:bodyPr>
          <a:lstStyle/>
          <a:p>
            <a:pPr algn="just"/>
            <a:r>
              <a:rPr lang="en-US" sz="24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Named for Flavius Josephus, a famous Jewish historian who participated in and chronicled the Jewish revolt of 66–70 </a:t>
            </a:r>
            <a:r>
              <a:rPr lang="en-US" sz="2400" b="0" i="0" u="none" strike="noStrike" baseline="0" dirty="0" err="1">
                <a:solidFill>
                  <a:schemeClr val="accent1">
                    <a:lumMod val="75000"/>
                  </a:schemeClr>
                </a:solidFill>
                <a:latin typeface="Times New Roman" panose="02020603050405020304" pitchFamily="18" charset="0"/>
                <a:cs typeface="Times New Roman" panose="02020603050405020304" pitchFamily="18" charset="0"/>
              </a:rPr>
              <a:t>c.e.</a:t>
            </a:r>
            <a:r>
              <a:rPr lang="en-US" sz="24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 against the Romans.</a:t>
            </a:r>
          </a:p>
          <a:p>
            <a:pPr algn="just"/>
            <a:r>
              <a:rPr lang="en-US" sz="24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Josephus, as a general, managed to hold the fortress of </a:t>
            </a:r>
            <a:r>
              <a:rPr lang="en-US" sz="2400" b="0" i="0" u="none" strike="noStrike" baseline="0" dirty="0" err="1">
                <a:solidFill>
                  <a:schemeClr val="accent1">
                    <a:lumMod val="75000"/>
                  </a:schemeClr>
                </a:solidFill>
                <a:latin typeface="Times New Roman" panose="02020603050405020304" pitchFamily="18" charset="0"/>
                <a:cs typeface="Times New Roman" panose="02020603050405020304" pitchFamily="18" charset="0"/>
              </a:rPr>
              <a:t>Jotapata</a:t>
            </a:r>
            <a:r>
              <a:rPr lang="en-US" sz="24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 for 47 days, but after the fall of the city he took refuge with 40 diehards in a nearby cave. There, the rebels voted to perish rather than surrender. Josephus proposed that each man in turn should dispatch his neighbor, the order to be determined by casting lots. Josephus contrived to draw the last lot, and, as one of the two surviving men in the cave, he prevailed upon his intended victim to </a:t>
            </a:r>
            <a:r>
              <a:rPr lang="en-IN" sz="2400" b="0" i="0" u="none" strike="noStrike" baseline="0" dirty="0">
                <a:solidFill>
                  <a:schemeClr val="accent1">
                    <a:lumMod val="75000"/>
                  </a:schemeClr>
                </a:solidFill>
                <a:latin typeface="Times New Roman" panose="02020603050405020304" pitchFamily="18" charset="0"/>
                <a:cs typeface="Times New Roman" panose="02020603050405020304" pitchFamily="18" charset="0"/>
              </a:rPr>
              <a:t>surrender to the Romans.</a:t>
            </a:r>
            <a:endParaRPr lang="en-IN" sz="2400" dirty="0">
              <a:solidFill>
                <a:schemeClr val="accent1">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79515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IN" sz="2400" b="1" dirty="0">
                <a:solidFill>
                  <a:schemeClr val="accent2">
                    <a:lumMod val="75000"/>
                  </a:schemeClr>
                </a:solidFill>
              </a:rPr>
              <a:t>Decrease and Conquer</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246885"/>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DESIGN AND ANALYSIS OF ALGORITHMS</a:t>
            </a:r>
          </a:p>
        </p:txBody>
      </p:sp>
      <p:sp>
        <p:nvSpPr>
          <p:cNvPr id="9" name="Rectangle 3">
            <a:extLst>
              <a:ext uri="{FF2B5EF4-FFF2-40B4-BE49-F238E27FC236}">
                <a16:creationId xmlns:a16="http://schemas.microsoft.com/office/drawing/2014/main" id="{74ED0E1A-3D1C-4DA9-9116-8230B6C7672D}"/>
              </a:ext>
            </a:extLst>
          </p:cNvPr>
          <p:cNvSpPr txBox="1">
            <a:spLocks noChangeArrowheads="1"/>
          </p:cNvSpPr>
          <p:nvPr/>
        </p:nvSpPr>
        <p:spPr>
          <a:xfrm>
            <a:off x="609599" y="1513220"/>
            <a:ext cx="8395253" cy="44800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buFont typeface="Monotype Sorts" pitchFamily="2" charset="2"/>
              <a:buNone/>
            </a:pPr>
            <a:br>
              <a:rPr lang="en-US" altLang="en-US" sz="1800" dirty="0"/>
            </a:br>
            <a:br>
              <a:rPr lang="en-US" altLang="en-US" sz="1800" dirty="0"/>
            </a:br>
            <a:br>
              <a:rPr lang="en-US" altLang="en-US" sz="1800" dirty="0"/>
            </a:br>
            <a:br>
              <a:rPr lang="en-US" altLang="en-US" sz="1800" dirty="0"/>
            </a:br>
            <a:endParaRPr lang="en-US" altLang="en-US" sz="1800" dirty="0"/>
          </a:p>
          <a:p>
            <a:pPr marL="0" indent="0">
              <a:lnSpc>
                <a:spcPct val="80000"/>
              </a:lnSpc>
              <a:buFont typeface="Monotype Sorts" pitchFamily="2" charset="2"/>
              <a:buNone/>
            </a:pPr>
            <a:br>
              <a:rPr lang="en-US" altLang="en-US" sz="2000" dirty="0"/>
            </a:br>
            <a:br>
              <a:rPr lang="en-US" altLang="en-US" sz="2000" dirty="0"/>
            </a:br>
            <a:endParaRPr lang="en-US" altLang="en-US" sz="2000" dirty="0"/>
          </a:p>
          <a:p>
            <a:pPr marL="0" indent="0">
              <a:lnSpc>
                <a:spcPct val="80000"/>
              </a:lnSpc>
              <a:buFont typeface="Monotype Sorts" pitchFamily="2" charset="2"/>
              <a:buNone/>
            </a:pPr>
            <a:endParaRPr lang="en-US" altLang="en-US" sz="2000" dirty="0"/>
          </a:p>
          <a:p>
            <a:pPr marL="0" indent="0">
              <a:lnSpc>
                <a:spcPct val="80000"/>
              </a:lnSpc>
            </a:pPr>
            <a:endParaRPr lang="en-US" altLang="en-US" sz="1800" dirty="0"/>
          </a:p>
        </p:txBody>
      </p:sp>
      <p:sp>
        <p:nvSpPr>
          <p:cNvPr id="2" name="TextBox 1">
            <a:extLst>
              <a:ext uri="{FF2B5EF4-FFF2-40B4-BE49-F238E27FC236}">
                <a16:creationId xmlns:a16="http://schemas.microsoft.com/office/drawing/2014/main" id="{CC91F91C-E58F-48EE-9D1E-7E4F29494319}"/>
              </a:ext>
            </a:extLst>
          </p:cNvPr>
          <p:cNvSpPr txBox="1"/>
          <p:nvPr/>
        </p:nvSpPr>
        <p:spPr>
          <a:xfrm>
            <a:off x="371880" y="1679713"/>
            <a:ext cx="2888155" cy="369332"/>
          </a:xfrm>
          <a:prstGeom prst="rect">
            <a:avLst/>
          </a:prstGeom>
          <a:noFill/>
        </p:spPr>
        <p:txBody>
          <a:bodyPr wrap="square" rtlCol="0">
            <a:spAutoFit/>
          </a:bodyPr>
          <a:lstStyle/>
          <a:p>
            <a:r>
              <a:rPr lang="en-IN" sz="1800" b="1" i="0" u="none" strike="noStrike" baseline="0" dirty="0">
                <a:latin typeface="Univers-Bold"/>
              </a:rPr>
              <a:t>Josephus Problem</a:t>
            </a:r>
            <a:endParaRPr lang="en-IN" dirty="0"/>
          </a:p>
        </p:txBody>
      </p:sp>
      <p:pic>
        <p:nvPicPr>
          <p:cNvPr id="4" name="Picture 3">
            <a:extLst>
              <a:ext uri="{FF2B5EF4-FFF2-40B4-BE49-F238E27FC236}">
                <a16:creationId xmlns:a16="http://schemas.microsoft.com/office/drawing/2014/main" id="{C269FFCC-C376-47C6-966E-CAC52A43AD64}"/>
              </a:ext>
            </a:extLst>
          </p:cNvPr>
          <p:cNvPicPr>
            <a:picLocks noChangeAspect="1"/>
          </p:cNvPicPr>
          <p:nvPr/>
        </p:nvPicPr>
        <p:blipFill>
          <a:blip r:embed="rId3"/>
          <a:stretch>
            <a:fillRect/>
          </a:stretch>
        </p:blipFill>
        <p:spPr>
          <a:xfrm>
            <a:off x="1242223" y="2608706"/>
            <a:ext cx="7497265" cy="3817415"/>
          </a:xfrm>
          <a:prstGeom prst="rect">
            <a:avLst/>
          </a:prstGeom>
        </p:spPr>
      </p:pic>
    </p:spTree>
    <p:extLst>
      <p:ext uri="{BB962C8B-B14F-4D97-AF65-F5344CB8AC3E}">
        <p14:creationId xmlns:p14="http://schemas.microsoft.com/office/powerpoint/2010/main" val="7767686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9473B520-A9D1-472D-B234-C4032DD0E596}"/>
              </a:ext>
            </a:extLst>
          </p:cNvPr>
          <p:cNvCxnSpPr>
            <a:cxnSpLocks/>
          </p:cNvCxnSpPr>
          <p:nvPr/>
        </p:nvCxnSpPr>
        <p:spPr>
          <a:xfrm flipV="1">
            <a:off x="5448168" y="2887307"/>
            <a:ext cx="4581449" cy="1"/>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EC43E8D5-98D6-4BA6-B3EA-B5411DA566A9}"/>
              </a:ext>
            </a:extLst>
          </p:cNvPr>
          <p:cNvSpPr/>
          <p:nvPr/>
        </p:nvSpPr>
        <p:spPr>
          <a:xfrm>
            <a:off x="5460537" y="4049738"/>
            <a:ext cx="7497214" cy="461665"/>
          </a:xfrm>
          <a:prstGeom prst="rect">
            <a:avLst/>
          </a:prstGeom>
        </p:spPr>
        <p:txBody>
          <a:bodyPr wrap="square">
            <a:spAutoFit/>
          </a:bodyPr>
          <a:lstStyle/>
          <a:p>
            <a:r>
              <a:rPr lang="en-US" sz="2400" b="1" dirty="0"/>
              <a:t>surabhinarayan@pes.edu</a:t>
            </a:r>
            <a:endParaRPr lang="en-IN" sz="2400" b="1" dirty="0"/>
          </a:p>
        </p:txBody>
      </p:sp>
      <p:grpSp>
        <p:nvGrpSpPr>
          <p:cNvPr id="13" name="Group 12">
            <a:extLst>
              <a:ext uri="{FF2B5EF4-FFF2-40B4-BE49-F238E27FC236}">
                <a16:creationId xmlns:a16="http://schemas.microsoft.com/office/drawing/2014/main" id="{0B436274-E913-46F7-B58F-E0B0713EC594}"/>
              </a:ext>
            </a:extLst>
          </p:cNvPr>
          <p:cNvGrpSpPr/>
          <p:nvPr/>
        </p:nvGrpSpPr>
        <p:grpSpPr>
          <a:xfrm>
            <a:off x="313844" y="349466"/>
            <a:ext cx="11518407" cy="6218388"/>
            <a:chOff x="313844" y="349466"/>
            <a:chExt cx="11518407" cy="6218388"/>
          </a:xfrm>
          <a:solidFill>
            <a:schemeClr val="accent2">
              <a:lumMod val="75000"/>
            </a:schemeClr>
          </a:solidFill>
        </p:grpSpPr>
        <p:sp>
          <p:nvSpPr>
            <p:cNvPr id="14" name="Rectangle 13">
              <a:extLst>
                <a:ext uri="{FF2B5EF4-FFF2-40B4-BE49-F238E27FC236}">
                  <a16:creationId xmlns:a16="http://schemas.microsoft.com/office/drawing/2014/main" id="{54B9092D-46D3-4724-A230-51F43D78A967}"/>
                </a:ext>
              </a:extLst>
            </p:cNvPr>
            <p:cNvSpPr/>
            <p:nvPr/>
          </p:nvSpPr>
          <p:spPr>
            <a:xfrm>
              <a:off x="11786532" y="360726"/>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B5E94C15-EFC4-4DC4-AE91-4D6631C438BE}"/>
                </a:ext>
              </a:extLst>
            </p:cNvPr>
            <p:cNvSpPr/>
            <p:nvPr/>
          </p:nvSpPr>
          <p:spPr>
            <a:xfrm rot="5400000">
              <a:off x="11275944" y="-161122"/>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828287AB-A481-4BDF-BE49-1BBA364237E1}"/>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EC3328F7-E593-44F8-A55A-576E1E3E973D}"/>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18" name="Picture 17" descr="A close up of a logo&#10;&#10;Description automatically generated">
            <a:extLst>
              <a:ext uri="{FF2B5EF4-FFF2-40B4-BE49-F238E27FC236}">
                <a16:creationId xmlns:a16="http://schemas.microsoft.com/office/drawing/2014/main" id="{A88F3CC2-5C5B-4685-8D94-FFC4B5D64CB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11974" y="1380616"/>
            <a:ext cx="2369218" cy="3550188"/>
          </a:xfrm>
          <a:prstGeom prst="rect">
            <a:avLst/>
          </a:prstGeom>
        </p:spPr>
      </p:pic>
      <p:sp>
        <p:nvSpPr>
          <p:cNvPr id="19" name="Rectangle 18">
            <a:extLst>
              <a:ext uri="{FF2B5EF4-FFF2-40B4-BE49-F238E27FC236}">
                <a16:creationId xmlns:a16="http://schemas.microsoft.com/office/drawing/2014/main" id="{94BAC35B-0C86-48BD-81AE-8629CCB2734E}"/>
              </a:ext>
            </a:extLst>
          </p:cNvPr>
          <p:cNvSpPr/>
          <p:nvPr/>
        </p:nvSpPr>
        <p:spPr>
          <a:xfrm>
            <a:off x="5448168" y="2049518"/>
            <a:ext cx="4603806" cy="665240"/>
          </a:xfrm>
          <a:prstGeom prst="rect">
            <a:avLst/>
          </a:prstGeom>
        </p:spPr>
        <p:txBody>
          <a:bodyPr wrap="square">
            <a:spAutoFit/>
          </a:bodyPr>
          <a:lstStyle/>
          <a:p>
            <a:r>
              <a:rPr lang="en-US" sz="3600" b="1" dirty="0">
                <a:solidFill>
                  <a:schemeClr val="accent2">
                    <a:lumMod val="75000"/>
                  </a:schemeClr>
                </a:solidFill>
              </a:rPr>
              <a:t>T</a:t>
            </a:r>
            <a:r>
              <a:rPr lang="en-IN" sz="3600" b="1" dirty="0">
                <a:solidFill>
                  <a:schemeClr val="accent2">
                    <a:lumMod val="75000"/>
                  </a:schemeClr>
                </a:solidFill>
              </a:rPr>
              <a:t>HANK YOU</a:t>
            </a:r>
          </a:p>
        </p:txBody>
      </p:sp>
      <p:sp>
        <p:nvSpPr>
          <p:cNvPr id="20" name="Rectangle 19">
            <a:extLst>
              <a:ext uri="{FF2B5EF4-FFF2-40B4-BE49-F238E27FC236}">
                <a16:creationId xmlns:a16="http://schemas.microsoft.com/office/drawing/2014/main" id="{97E8DF64-61DB-4438-8664-105788459AD2}"/>
              </a:ext>
            </a:extLst>
          </p:cNvPr>
          <p:cNvSpPr/>
          <p:nvPr/>
        </p:nvSpPr>
        <p:spPr>
          <a:xfrm>
            <a:off x="5448168" y="3128242"/>
            <a:ext cx="7497214" cy="461665"/>
          </a:xfrm>
          <a:prstGeom prst="rect">
            <a:avLst/>
          </a:prstGeom>
        </p:spPr>
        <p:txBody>
          <a:bodyPr wrap="square">
            <a:spAutoFit/>
          </a:bodyPr>
          <a:lstStyle/>
          <a:p>
            <a:r>
              <a:rPr lang="en-IN" sz="2400" b="1" dirty="0" err="1"/>
              <a:t>Surabhi</a:t>
            </a:r>
            <a:r>
              <a:rPr lang="en-IN" sz="2400" b="1" dirty="0"/>
              <a:t> Narayan</a:t>
            </a:r>
          </a:p>
        </p:txBody>
      </p:sp>
      <p:sp>
        <p:nvSpPr>
          <p:cNvPr id="21" name="Rectangle 20">
            <a:extLst>
              <a:ext uri="{FF2B5EF4-FFF2-40B4-BE49-F238E27FC236}">
                <a16:creationId xmlns:a16="http://schemas.microsoft.com/office/drawing/2014/main" id="{0916C8C7-6436-48A9-9CF7-1AAC7653EAAE}"/>
              </a:ext>
            </a:extLst>
          </p:cNvPr>
          <p:cNvSpPr/>
          <p:nvPr/>
        </p:nvSpPr>
        <p:spPr>
          <a:xfrm>
            <a:off x="5448168" y="3525847"/>
            <a:ext cx="6213401" cy="461665"/>
          </a:xfrm>
          <a:prstGeom prst="rect">
            <a:avLst/>
          </a:prstGeom>
        </p:spPr>
        <p:txBody>
          <a:bodyPr wrap="square">
            <a:spAutoFit/>
          </a:bodyPr>
          <a:lstStyle/>
          <a:p>
            <a:r>
              <a:rPr lang="en-US" sz="2400" dirty="0"/>
              <a:t>Department of Computer Science &amp;Engineering</a:t>
            </a:r>
            <a:endParaRPr lang="en-IN" sz="2400" dirty="0"/>
          </a:p>
        </p:txBody>
      </p:sp>
    </p:spTree>
    <p:extLst>
      <p:ext uri="{BB962C8B-B14F-4D97-AF65-F5344CB8AC3E}">
        <p14:creationId xmlns:p14="http://schemas.microsoft.com/office/powerpoint/2010/main" val="14595037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932</TotalTime>
  <Words>562</Words>
  <Application>Microsoft Office PowerPoint</Application>
  <PresentationFormat>Widescreen</PresentationFormat>
  <Paragraphs>51</Paragraphs>
  <Slides>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Arial</vt:lpstr>
      <vt:lpstr>Calibri</vt:lpstr>
      <vt:lpstr>Calibri Light</vt:lpstr>
      <vt:lpstr>Monotype Sorts</vt:lpstr>
      <vt:lpstr>Times New Roman</vt:lpstr>
      <vt:lpstr>TimesTen-BoldItalic</vt:lpstr>
      <vt:lpstr>Univers-Bold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Krishna Venkataram</dc:creator>
  <cp:lastModifiedBy>Chandramouli Ananthamurthy</cp:lastModifiedBy>
  <cp:revision>106</cp:revision>
  <dcterms:created xsi:type="dcterms:W3CDTF">2020-06-03T14:19:11Z</dcterms:created>
  <dcterms:modified xsi:type="dcterms:W3CDTF">2021-02-05T08:50:29Z</dcterms:modified>
</cp:coreProperties>
</file>