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slideshow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ans" panose="020B0604020202020204" charset="0"/>
      <p:regular r:id="rId15"/>
    </p:embeddedFont>
    <p:embeddedFont>
      <p:font typeface="Canva Sans Bold" panose="020B0604020202020204" charset="0"/>
      <p:regular r:id="rId16"/>
    </p:embeddedFont>
    <p:embeddedFont>
      <p:font typeface="Times New Roman Bold" panose="02020803070505020304" pitchFamily="18" charset="0"/>
      <p:regular r:id="rId17"/>
      <p:bold r:id="rId18"/>
    </p:embeddedFont>
    <p:embeddedFont>
      <p:font typeface="TT Rounds Condensed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58164" y="3248146"/>
            <a:ext cx="10052855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48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DESIGN AND ANALYSIS </a:t>
            </a:r>
          </a:p>
          <a:p>
            <a:pPr algn="l">
              <a:lnSpc>
                <a:spcPts val="6480"/>
              </a:lnSpc>
            </a:pPr>
            <a:r>
              <a:rPr lang="en-US" sz="5400" b="1" spc="50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OF ALGORITHMS</a:t>
            </a:r>
          </a:p>
        </p:txBody>
      </p:sp>
      <p:sp>
        <p:nvSpPr>
          <p:cNvPr id="5" name="Freeform 5"/>
          <p:cNvSpPr/>
          <p:nvPr/>
        </p:nvSpPr>
        <p:spPr>
          <a:xfrm>
            <a:off x="470766" y="8234549"/>
            <a:ext cx="1600342" cy="1617233"/>
          </a:xfrm>
          <a:custGeom>
            <a:avLst/>
            <a:gdLst/>
            <a:ahLst/>
            <a:cxnLst/>
            <a:rect l="l" t="t" r="r" b="b"/>
            <a:pathLst>
              <a:path w="1600342" h="1617233">
                <a:moveTo>
                  <a:pt x="0" y="0"/>
                </a:moveTo>
                <a:lnTo>
                  <a:pt x="1600342" y="0"/>
                </a:lnTo>
                <a:lnTo>
                  <a:pt x="1600342" y="1617232"/>
                </a:lnTo>
                <a:lnTo>
                  <a:pt x="0" y="1617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7225059" y="5143500"/>
            <a:ext cx="7247413" cy="14288"/>
          </a:xfrm>
          <a:prstGeom prst="line">
            <a:avLst/>
          </a:prstGeom>
          <a:ln w="47625" cap="rnd">
            <a:solidFill>
              <a:srgbClr val="ED7D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283553" y="399102"/>
            <a:ext cx="1600343" cy="1617233"/>
          </a:xfrm>
          <a:custGeom>
            <a:avLst/>
            <a:gdLst/>
            <a:ahLst/>
            <a:cxnLst/>
            <a:rect l="l" t="t" r="r" b="b"/>
            <a:pathLst>
              <a:path w="1600343" h="1617233">
                <a:moveTo>
                  <a:pt x="0" y="0"/>
                </a:moveTo>
                <a:lnTo>
                  <a:pt x="1600343" y="0"/>
                </a:lnTo>
                <a:lnTo>
                  <a:pt x="1600343" y="1617232"/>
                </a:lnTo>
                <a:lnTo>
                  <a:pt x="0" y="1617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859278" y="4048246"/>
            <a:ext cx="4425024" cy="2489076"/>
          </a:xfrm>
          <a:custGeom>
            <a:avLst/>
            <a:gdLst/>
            <a:ahLst/>
            <a:cxnLst/>
            <a:rect l="l" t="t" r="r" b="b"/>
            <a:pathLst>
              <a:path w="4425024" h="2489076">
                <a:moveTo>
                  <a:pt x="0" y="0"/>
                </a:moveTo>
                <a:lnTo>
                  <a:pt x="4425025" y="0"/>
                </a:lnTo>
                <a:lnTo>
                  <a:pt x="4425025" y="2489076"/>
                </a:lnTo>
                <a:lnTo>
                  <a:pt x="0" y="24890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9764" y="2820378"/>
            <a:ext cx="13305687" cy="878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50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DESIGN AND ANALYSIS OF ALGORITHMS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89765" y="4378887"/>
            <a:ext cx="11062941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50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Decrease by Variable size Algorithm</a:t>
            </a:r>
          </a:p>
        </p:txBody>
      </p:sp>
      <p:sp>
        <p:nvSpPr>
          <p:cNvPr id="6" name="Freeform 6"/>
          <p:cNvSpPr/>
          <p:nvPr/>
        </p:nvSpPr>
        <p:spPr>
          <a:xfrm>
            <a:off x="470766" y="8234549"/>
            <a:ext cx="1600342" cy="1617233"/>
          </a:xfrm>
          <a:custGeom>
            <a:avLst/>
            <a:gdLst/>
            <a:ahLst/>
            <a:cxnLst/>
            <a:rect l="l" t="t" r="r" b="b"/>
            <a:pathLst>
              <a:path w="1600342" h="1617233">
                <a:moveTo>
                  <a:pt x="0" y="0"/>
                </a:moveTo>
                <a:lnTo>
                  <a:pt x="1600342" y="0"/>
                </a:lnTo>
                <a:lnTo>
                  <a:pt x="1600342" y="1617232"/>
                </a:lnTo>
                <a:lnTo>
                  <a:pt x="0" y="1617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-46154">
            <a:off x="-29112" y="3937111"/>
            <a:ext cx="11914305" cy="0"/>
          </a:xfrm>
          <a:prstGeom prst="line">
            <a:avLst/>
          </a:prstGeom>
          <a:ln w="28575" cap="rnd">
            <a:solidFill>
              <a:srgbClr val="DFA2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295452" y="1028700"/>
            <a:ext cx="2953625" cy="1661414"/>
          </a:xfrm>
          <a:custGeom>
            <a:avLst/>
            <a:gdLst/>
            <a:ahLst/>
            <a:cxnLst/>
            <a:rect l="l" t="t" r="r" b="b"/>
            <a:pathLst>
              <a:path w="2953625" h="1661414">
                <a:moveTo>
                  <a:pt x="0" y="0"/>
                </a:moveTo>
                <a:lnTo>
                  <a:pt x="2953625" y="0"/>
                </a:lnTo>
                <a:lnTo>
                  <a:pt x="2953625" y="1661414"/>
                </a:lnTo>
                <a:lnTo>
                  <a:pt x="0" y="1661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9260" y="1023567"/>
            <a:ext cx="1181675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Variable Decrease and Conquer</a:t>
            </a:r>
          </a:p>
        </p:txBody>
      </p:sp>
      <p:sp>
        <p:nvSpPr>
          <p:cNvPr id="3" name="AutoShape 3"/>
          <p:cNvSpPr/>
          <p:nvPr/>
        </p:nvSpPr>
        <p:spPr>
          <a:xfrm rot="15708">
            <a:off x="-41102" y="1965162"/>
            <a:ext cx="12507359" cy="0"/>
          </a:xfrm>
          <a:prstGeom prst="line">
            <a:avLst/>
          </a:prstGeom>
          <a:ln w="28575" cap="rnd">
            <a:solidFill>
              <a:srgbClr val="ED7D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49260" y="2596691"/>
            <a:ext cx="16007946" cy="598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9"/>
              </a:lnSpc>
            </a:pPr>
            <a:r>
              <a:rPr lang="en-US" sz="3899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third principal variety of decrease-and-conquer, the </a:t>
            </a:r>
            <a:r>
              <a:rPr lang="en-US" sz="3899" b="1" dirty="0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size reduction pattern</a:t>
            </a:r>
            <a:r>
              <a:rPr lang="en-US" sz="3899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varies from one iteration of the algorithm to another.</a:t>
            </a:r>
          </a:p>
          <a:p>
            <a:pPr algn="just">
              <a:lnSpc>
                <a:spcPts val="4679"/>
              </a:lnSpc>
            </a:pPr>
            <a:endParaRPr lang="en-US" sz="3899" dirty="0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679"/>
              </a:lnSpc>
            </a:pPr>
            <a:r>
              <a:rPr lang="en-US" sz="3899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algorithm helps optimize:</a:t>
            </a:r>
          </a:p>
          <a:p>
            <a:pPr marL="841868" lvl="1" indent="-420934" algn="just">
              <a:lnSpc>
                <a:spcPts val="4679"/>
              </a:lnSpc>
              <a:buAutoNum type="arabicPeriod"/>
            </a:pPr>
            <a:r>
              <a:rPr lang="en-US" sz="3899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a Median and the Selection Problem</a:t>
            </a:r>
          </a:p>
          <a:p>
            <a:pPr marL="841868" lvl="1" indent="-420934" algn="just">
              <a:lnSpc>
                <a:spcPts val="4679"/>
              </a:lnSpc>
              <a:buAutoNum type="arabicPeriod"/>
            </a:pPr>
            <a:r>
              <a:rPr lang="en-US" sz="3899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Interpolation Search</a:t>
            </a:r>
          </a:p>
          <a:p>
            <a:pPr marL="841868" lvl="1" indent="-420934" algn="just">
              <a:lnSpc>
                <a:spcPts val="4679"/>
              </a:lnSpc>
              <a:buAutoNum type="arabicPeriod"/>
            </a:pPr>
            <a:r>
              <a:rPr lang="en-US" sz="3899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 and Insertion in a Binary Search Tree</a:t>
            </a:r>
          </a:p>
          <a:p>
            <a:pPr marL="841868" lvl="1" indent="-420934" algn="just">
              <a:lnSpc>
                <a:spcPts val="4679"/>
              </a:lnSpc>
              <a:buAutoNum type="arabicPeriod"/>
            </a:pPr>
            <a:r>
              <a:rPr lang="en-US" sz="3899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Game of Nim</a:t>
            </a:r>
          </a:p>
          <a:p>
            <a:pPr algn="just">
              <a:lnSpc>
                <a:spcPts val="4679"/>
              </a:lnSpc>
            </a:pPr>
            <a:endParaRPr lang="en-US" sz="3899" dirty="0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679"/>
              </a:lnSpc>
            </a:pPr>
            <a:r>
              <a:rPr lang="en-US" sz="3899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will look at </a:t>
            </a:r>
            <a:r>
              <a:rPr lang="en-US" sz="3899" b="1" dirty="0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Computing a Median and the Selection Problem</a:t>
            </a:r>
            <a:r>
              <a:rPr lang="en-US" sz="3899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detail.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1106" y="424080"/>
            <a:ext cx="11062941" cy="60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2F5597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DESIGN AND ANALYSIS OF ALGORITHMS</a:t>
            </a:r>
          </a:p>
        </p:txBody>
      </p:sp>
      <p:sp>
        <p:nvSpPr>
          <p:cNvPr id="6" name="Freeform 6"/>
          <p:cNvSpPr/>
          <p:nvPr/>
        </p:nvSpPr>
        <p:spPr>
          <a:xfrm>
            <a:off x="14615393" y="437483"/>
            <a:ext cx="2758207" cy="1551491"/>
          </a:xfrm>
          <a:custGeom>
            <a:avLst/>
            <a:gdLst/>
            <a:ahLst/>
            <a:cxnLst/>
            <a:rect l="l" t="t" r="r" b="b"/>
            <a:pathLst>
              <a:path w="2758207" h="1551491">
                <a:moveTo>
                  <a:pt x="0" y="0"/>
                </a:moveTo>
                <a:lnTo>
                  <a:pt x="2758207" y="0"/>
                </a:lnTo>
                <a:lnTo>
                  <a:pt x="2758207" y="1551491"/>
                </a:lnTo>
                <a:lnTo>
                  <a:pt x="0" y="15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08">
            <a:off x="-41102" y="1965162"/>
            <a:ext cx="12507359" cy="0"/>
          </a:xfrm>
          <a:prstGeom prst="line">
            <a:avLst/>
          </a:prstGeom>
          <a:ln w="28575" cap="rnd">
            <a:solidFill>
              <a:srgbClr val="ED7D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49260" y="2124393"/>
            <a:ext cx="15239540" cy="806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9"/>
              </a:lnSpc>
            </a:pPr>
            <a:r>
              <a:rPr lang="en-US" sz="3799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Computing a Median and the Selection Problem</a:t>
            </a:r>
          </a:p>
          <a:p>
            <a:pPr algn="just">
              <a:lnSpc>
                <a:spcPts val="4179"/>
              </a:lnSpc>
            </a:pPr>
            <a:endParaRPr lang="en-US" sz="3799" b="1">
              <a:solidFill>
                <a:srgbClr val="2F5597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3960"/>
              </a:lnSpc>
            </a:pP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Objective:</a:t>
            </a: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the median of an odd array in the best time.</a:t>
            </a:r>
          </a:p>
          <a:p>
            <a:pPr algn="just">
              <a:lnSpc>
                <a:spcPts val="3960"/>
              </a:lnSpc>
            </a:pPr>
            <a:endParaRPr lang="en-US" sz="3600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960"/>
              </a:lnSpc>
            </a:pP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the Median?</a:t>
            </a:r>
          </a:p>
          <a:p>
            <a:pPr algn="just">
              <a:lnSpc>
                <a:spcPts val="3960"/>
              </a:lnSpc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median is the middle value of a sorted </a:t>
            </a:r>
          </a:p>
          <a:p>
            <a:pPr algn="just">
              <a:lnSpc>
                <a:spcPts val="3960"/>
              </a:lnSpc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array.</a:t>
            </a:r>
          </a:p>
          <a:p>
            <a:pPr algn="just">
              <a:lnSpc>
                <a:spcPts val="3960"/>
              </a:lnSpc>
            </a:pPr>
            <a:endParaRPr lang="en-US" sz="3600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960"/>
              </a:lnSpc>
            </a:pP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Naïve Approach:</a:t>
            </a:r>
          </a:p>
          <a:p>
            <a:pPr marL="777240" lvl="1" indent="-388620" algn="just">
              <a:lnSpc>
                <a:spcPts val="3960"/>
              </a:lnSpc>
              <a:buAutoNum type="arabicPeriod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 the array.</a:t>
            </a:r>
          </a:p>
          <a:p>
            <a:pPr marL="777240" lvl="1" indent="-388620" algn="just">
              <a:lnSpc>
                <a:spcPts val="3960"/>
              </a:lnSpc>
              <a:buAutoNum type="arabicPeriod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element in the middle position.</a:t>
            </a:r>
          </a:p>
          <a:p>
            <a:pPr algn="just">
              <a:lnSpc>
                <a:spcPts val="3960"/>
              </a:lnSpc>
            </a:pPr>
            <a:endParaRPr lang="en-US" sz="3600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960"/>
              </a:lnSpc>
            </a:pP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 complexity:</a:t>
            </a:r>
          </a:p>
          <a:p>
            <a:pPr marL="777240" lvl="1" indent="-388620" algn="just">
              <a:lnSpc>
                <a:spcPts val="3960"/>
              </a:lnSpc>
              <a:buFont typeface="Arial"/>
              <a:buChar char="•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Sorting: O(n log n)</a:t>
            </a:r>
          </a:p>
          <a:p>
            <a:pPr marL="777240" lvl="1" indent="-388620" algn="just">
              <a:lnSpc>
                <a:spcPts val="3960"/>
              </a:lnSpc>
              <a:buFont typeface="Arial"/>
              <a:buChar char="•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Selecting the middle element: O(1)</a:t>
            </a:r>
          </a:p>
          <a:p>
            <a:pPr marL="777240" lvl="1" indent="-388620" algn="just">
              <a:lnSpc>
                <a:spcPts val="3960"/>
              </a:lnSpc>
              <a:buFont typeface="Arial"/>
              <a:buChar char="•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Total: O(n log n) </a:t>
            </a:r>
          </a:p>
        </p:txBody>
      </p:sp>
      <p:sp>
        <p:nvSpPr>
          <p:cNvPr id="4" name="Freeform 4"/>
          <p:cNvSpPr/>
          <p:nvPr/>
        </p:nvSpPr>
        <p:spPr>
          <a:xfrm>
            <a:off x="14615393" y="437483"/>
            <a:ext cx="2758207" cy="1551491"/>
          </a:xfrm>
          <a:custGeom>
            <a:avLst/>
            <a:gdLst/>
            <a:ahLst/>
            <a:cxnLst/>
            <a:rect l="l" t="t" r="r" b="b"/>
            <a:pathLst>
              <a:path w="2758207" h="1551491">
                <a:moveTo>
                  <a:pt x="0" y="0"/>
                </a:moveTo>
                <a:lnTo>
                  <a:pt x="2758207" y="0"/>
                </a:lnTo>
                <a:lnTo>
                  <a:pt x="2758207" y="1551491"/>
                </a:lnTo>
                <a:lnTo>
                  <a:pt x="0" y="15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461057" y="4267345"/>
            <a:ext cx="7912543" cy="4421199"/>
          </a:xfrm>
          <a:custGeom>
            <a:avLst/>
            <a:gdLst/>
            <a:ahLst/>
            <a:cxnLst/>
            <a:rect l="l" t="t" r="r" b="b"/>
            <a:pathLst>
              <a:path w="7912543" h="4421199">
                <a:moveTo>
                  <a:pt x="0" y="0"/>
                </a:moveTo>
                <a:lnTo>
                  <a:pt x="7912543" y="0"/>
                </a:lnTo>
                <a:lnTo>
                  <a:pt x="7912543" y="4421199"/>
                </a:lnTo>
                <a:lnTo>
                  <a:pt x="0" y="44211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49260" y="1023567"/>
            <a:ext cx="1181675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Variable Decrease and Conquer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1106" y="424080"/>
            <a:ext cx="11062941" cy="60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2F5597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DESIGN AND ANALYSIS OF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9260" y="1023567"/>
            <a:ext cx="1181675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Variable Decrease and Conquer</a:t>
            </a:r>
          </a:p>
        </p:txBody>
      </p:sp>
      <p:sp>
        <p:nvSpPr>
          <p:cNvPr id="3" name="AutoShape 3"/>
          <p:cNvSpPr/>
          <p:nvPr/>
        </p:nvSpPr>
        <p:spPr>
          <a:xfrm rot="15708">
            <a:off x="-41102" y="1965162"/>
            <a:ext cx="12507359" cy="0"/>
          </a:xfrm>
          <a:prstGeom prst="line">
            <a:avLst/>
          </a:prstGeom>
          <a:ln w="28575" cap="rnd">
            <a:solidFill>
              <a:srgbClr val="ED7D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49260" y="2324639"/>
            <a:ext cx="16882839" cy="717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5"/>
              </a:lnSpc>
            </a:pPr>
            <a:r>
              <a:rPr lang="en-US" sz="3812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Computing a Median and the Selection Problem</a:t>
            </a:r>
          </a:p>
          <a:p>
            <a:pPr algn="just">
              <a:lnSpc>
                <a:spcPts val="4334"/>
              </a:lnSpc>
            </a:pPr>
            <a:endParaRPr lang="en-US" sz="3812" b="1">
              <a:solidFill>
                <a:srgbClr val="2F5597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334"/>
              </a:lnSpc>
            </a:pPr>
            <a:r>
              <a:rPr lang="en-US" sz="3611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Issues with the Naïve Approach:</a:t>
            </a:r>
          </a:p>
          <a:p>
            <a:pPr marL="779831" lvl="1" indent="-389915" algn="just">
              <a:lnSpc>
                <a:spcPts val="4334"/>
              </a:lnSpc>
              <a:buFont typeface="Arial"/>
              <a:buChar char="•"/>
            </a:pPr>
            <a:r>
              <a:rPr lang="en-US" sz="361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Sorting places all elements in their correct positions.</a:t>
            </a:r>
          </a:p>
          <a:p>
            <a:pPr marL="779831" lvl="1" indent="-389915" algn="just">
              <a:lnSpc>
                <a:spcPts val="4334"/>
              </a:lnSpc>
              <a:buFont typeface="Arial"/>
              <a:buChar char="•"/>
            </a:pPr>
            <a:r>
              <a:rPr lang="en-US" sz="361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only need the middle element, so sorting the entire array is unnecessary.</a:t>
            </a:r>
          </a:p>
          <a:p>
            <a:pPr algn="just">
              <a:lnSpc>
                <a:spcPts val="4334"/>
              </a:lnSpc>
            </a:pPr>
            <a:endParaRPr lang="en-US" sz="3611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334"/>
              </a:lnSpc>
            </a:pPr>
            <a:r>
              <a:rPr lang="en-US" sz="3611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can be optimized:</a:t>
            </a:r>
          </a:p>
          <a:p>
            <a:pPr marL="779831" lvl="1" indent="-389915" algn="just">
              <a:lnSpc>
                <a:spcPts val="4334"/>
              </a:lnSpc>
              <a:buFont typeface="Arial"/>
              <a:buChar char="•"/>
            </a:pPr>
            <a:r>
              <a:rPr lang="en-US" sz="361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sorting all elements, directly try to find the element at the n/2 position.</a:t>
            </a:r>
          </a:p>
          <a:p>
            <a:pPr marL="779831" lvl="1" indent="-389915" algn="just">
              <a:lnSpc>
                <a:spcPts val="4334"/>
              </a:lnSpc>
              <a:buFont typeface="Arial"/>
              <a:buChar char="•"/>
            </a:pPr>
            <a:r>
              <a:rPr lang="en-US" sz="361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problem of finding the k-th smallest or largest element is called the </a:t>
            </a:r>
            <a:r>
              <a:rPr lang="en-US" sz="3611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Selection Problem.</a:t>
            </a:r>
          </a:p>
          <a:p>
            <a:pPr algn="just">
              <a:lnSpc>
                <a:spcPts val="4334"/>
              </a:lnSpc>
            </a:pPr>
            <a:endParaRPr lang="en-US" sz="3611" b="1">
              <a:solidFill>
                <a:srgbClr val="2F5597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334"/>
              </a:lnSpc>
            </a:pPr>
            <a:r>
              <a:rPr lang="en-US" sz="3611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Solution:</a:t>
            </a:r>
          </a:p>
          <a:p>
            <a:pPr marL="779831" lvl="1" indent="-389915" algn="just">
              <a:lnSpc>
                <a:spcPts val="4334"/>
              </a:lnSpc>
              <a:buFont typeface="Arial"/>
              <a:buChar char="•"/>
            </a:pPr>
            <a:r>
              <a:rPr lang="en-US" sz="3611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QuickSelect to solve the Selection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1106" y="424080"/>
            <a:ext cx="11062941" cy="60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2F5597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DESIGN AND ANALYSIS OF ALGORITHMS</a:t>
            </a:r>
          </a:p>
        </p:txBody>
      </p:sp>
      <p:sp>
        <p:nvSpPr>
          <p:cNvPr id="6" name="Freeform 6"/>
          <p:cNvSpPr/>
          <p:nvPr/>
        </p:nvSpPr>
        <p:spPr>
          <a:xfrm>
            <a:off x="14615393" y="437483"/>
            <a:ext cx="2758207" cy="1551491"/>
          </a:xfrm>
          <a:custGeom>
            <a:avLst/>
            <a:gdLst/>
            <a:ahLst/>
            <a:cxnLst/>
            <a:rect l="l" t="t" r="r" b="b"/>
            <a:pathLst>
              <a:path w="2758207" h="1551491">
                <a:moveTo>
                  <a:pt x="0" y="0"/>
                </a:moveTo>
                <a:lnTo>
                  <a:pt x="2758207" y="0"/>
                </a:lnTo>
                <a:lnTo>
                  <a:pt x="2758207" y="1551491"/>
                </a:lnTo>
                <a:lnTo>
                  <a:pt x="0" y="15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08">
            <a:off x="-41102" y="1965162"/>
            <a:ext cx="12507359" cy="0"/>
          </a:xfrm>
          <a:prstGeom prst="line">
            <a:avLst/>
          </a:prstGeom>
          <a:ln w="28575" cap="rnd">
            <a:solidFill>
              <a:srgbClr val="ED7D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49260" y="2036599"/>
            <a:ext cx="15239540" cy="773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59"/>
              </a:lnSpc>
            </a:pPr>
            <a:r>
              <a:rPr lang="en-US" sz="3799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Computing a Median and the Selection Problem</a:t>
            </a:r>
          </a:p>
          <a:p>
            <a:pPr algn="just">
              <a:lnSpc>
                <a:spcPts val="4559"/>
              </a:lnSpc>
            </a:pPr>
            <a:endParaRPr lang="en-US" sz="3799" b="1">
              <a:solidFill>
                <a:srgbClr val="2F5597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320"/>
              </a:lnSpc>
            </a:pP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Quick Select: </a:t>
            </a:r>
          </a:p>
          <a:p>
            <a:pPr marL="777240" lvl="1" indent="-388620" algn="just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to Quick Sort, we pick a </a:t>
            </a: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pivot</a:t>
            </a: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element and </a:t>
            </a: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partition</a:t>
            </a: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array:</a:t>
            </a:r>
          </a:p>
          <a:p>
            <a:pPr marL="1554480" lvl="2" indent="-518160" algn="just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 </a:t>
            </a: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smaller</a:t>
            </a: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the pivot go to the</a:t>
            </a: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left</a:t>
            </a: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554480" lvl="2" indent="-518160" algn="just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 </a:t>
            </a: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larger</a:t>
            </a: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the pivot go to the </a:t>
            </a: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right</a:t>
            </a: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554480" lvl="2" indent="-518160" algn="just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pivot </a:t>
            </a: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placed in its </a:t>
            </a: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correct</a:t>
            </a: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position.</a:t>
            </a:r>
          </a:p>
          <a:p>
            <a:pPr marL="1554480" lvl="2" indent="-518160" algn="just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partition technique is called </a:t>
            </a: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Lomuto Partition</a:t>
            </a: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just">
              <a:lnSpc>
                <a:spcPts val="4320"/>
              </a:lnSpc>
            </a:pPr>
            <a:endParaRPr lang="en-US" sz="3600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7240" lvl="1" indent="-388620" algn="just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from Quick Sort:</a:t>
            </a:r>
          </a:p>
          <a:p>
            <a:pPr marL="1554480" lvl="2" indent="-518160" algn="just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Sort recursively sorts the entire array.</a:t>
            </a:r>
          </a:p>
          <a:p>
            <a:pPr marL="1554480" lvl="2" indent="-518160" algn="just">
              <a:lnSpc>
                <a:spcPts val="4320"/>
              </a:lnSpc>
              <a:buFont typeface="Arial"/>
              <a:buChar char="⚬"/>
            </a:pP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Select</a:t>
            </a:r>
            <a:r>
              <a:rPr lang="en-US" sz="3600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stops</a:t>
            </a:r>
            <a:r>
              <a:rPr lang="en-US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once the pivot is at the k-th position (n/2 for median).</a:t>
            </a:r>
          </a:p>
          <a:p>
            <a:pPr algn="just">
              <a:lnSpc>
                <a:spcPts val="4320"/>
              </a:lnSpc>
            </a:pPr>
            <a:endParaRPr lang="en-US" sz="3600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4615393" y="437483"/>
            <a:ext cx="2758207" cy="1551491"/>
          </a:xfrm>
          <a:custGeom>
            <a:avLst/>
            <a:gdLst/>
            <a:ahLst/>
            <a:cxnLst/>
            <a:rect l="l" t="t" r="r" b="b"/>
            <a:pathLst>
              <a:path w="2758207" h="1551491">
                <a:moveTo>
                  <a:pt x="0" y="0"/>
                </a:moveTo>
                <a:lnTo>
                  <a:pt x="2758207" y="0"/>
                </a:lnTo>
                <a:lnTo>
                  <a:pt x="2758207" y="1551491"/>
                </a:lnTo>
                <a:lnTo>
                  <a:pt x="0" y="15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49260" y="1023567"/>
            <a:ext cx="1181675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Variable Decrease and Conquer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1106" y="424080"/>
            <a:ext cx="11062941" cy="60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2F5597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DESIGN AND ANALYSIS OF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08">
            <a:off x="-41102" y="1965162"/>
            <a:ext cx="12507359" cy="0"/>
          </a:xfrm>
          <a:prstGeom prst="line">
            <a:avLst/>
          </a:prstGeom>
          <a:ln w="28575" cap="rnd">
            <a:solidFill>
              <a:srgbClr val="ED7D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81107" y="2976856"/>
            <a:ext cx="16578193" cy="686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2"/>
              </a:lnSpc>
            </a:pPr>
            <a:r>
              <a:rPr lang="en-US" sz="3226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 : List, left is first position of list, right is last position of list and k is k-th smallest element.</a:t>
            </a:r>
          </a:p>
          <a:p>
            <a:pPr algn="just">
              <a:lnSpc>
                <a:spcPts val="3872"/>
              </a:lnSpc>
            </a:pPr>
            <a:r>
              <a:rPr lang="en-US" sz="3226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 : A new list is partitioned.</a:t>
            </a:r>
          </a:p>
          <a:p>
            <a:pPr algn="just">
              <a:lnSpc>
                <a:spcPts val="3872"/>
              </a:lnSpc>
            </a:pPr>
            <a:r>
              <a:rPr lang="en-US" sz="3226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quickSelect(list, left, right, k)</a:t>
            </a:r>
          </a:p>
          <a:p>
            <a:pPr algn="just">
              <a:lnSpc>
                <a:spcPts val="3872"/>
              </a:lnSpc>
            </a:pPr>
            <a:r>
              <a:rPr lang="en-US" sz="3226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 left = right</a:t>
            </a:r>
          </a:p>
          <a:p>
            <a:pPr algn="just">
              <a:lnSpc>
                <a:spcPts val="3872"/>
              </a:lnSpc>
            </a:pPr>
            <a:r>
              <a:rPr lang="en-US" sz="3226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return list[left]</a:t>
            </a:r>
          </a:p>
          <a:p>
            <a:pPr algn="just">
              <a:lnSpc>
                <a:spcPts val="3872"/>
              </a:lnSpc>
            </a:pPr>
            <a:endParaRPr lang="en-US" sz="3226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872"/>
              </a:lnSpc>
            </a:pPr>
            <a:r>
              <a:rPr lang="en-US" sz="3226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226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// Select a pivotIndex between left and right</a:t>
            </a:r>
          </a:p>
          <a:p>
            <a:pPr algn="just">
              <a:lnSpc>
                <a:spcPts val="3872"/>
              </a:lnSpc>
            </a:pPr>
            <a:r>
              <a:rPr lang="en-US" sz="3226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pivotIndex &lt;= partition(list, left, right, pivotIndex)</a:t>
            </a:r>
          </a:p>
          <a:p>
            <a:pPr algn="just">
              <a:lnSpc>
                <a:spcPts val="3872"/>
              </a:lnSpc>
            </a:pPr>
            <a:r>
              <a:rPr lang="en-US" sz="3226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 k = pivotIndex</a:t>
            </a:r>
          </a:p>
          <a:p>
            <a:pPr algn="just">
              <a:lnSpc>
                <a:spcPts val="3872"/>
              </a:lnSpc>
            </a:pPr>
            <a:r>
              <a:rPr lang="en-US" sz="3226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return list[k]</a:t>
            </a:r>
          </a:p>
          <a:p>
            <a:pPr algn="just">
              <a:lnSpc>
                <a:spcPts val="3872"/>
              </a:lnSpc>
            </a:pPr>
            <a:r>
              <a:rPr lang="en-US" sz="3226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else if k &lt; pivotIndex</a:t>
            </a:r>
          </a:p>
          <a:p>
            <a:pPr algn="just">
              <a:lnSpc>
                <a:spcPts val="3872"/>
              </a:lnSpc>
            </a:pPr>
            <a:r>
              <a:rPr lang="en-US" sz="3226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right &lt;= pivotIndex - 1</a:t>
            </a:r>
          </a:p>
          <a:p>
            <a:pPr algn="just">
              <a:lnSpc>
                <a:spcPts val="3872"/>
              </a:lnSpc>
            </a:pPr>
            <a:r>
              <a:rPr lang="en-US" sz="3226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else</a:t>
            </a:r>
          </a:p>
          <a:p>
            <a:pPr algn="just">
              <a:lnSpc>
                <a:spcPts val="3872"/>
              </a:lnSpc>
            </a:pPr>
            <a:r>
              <a:rPr lang="en-US" sz="3226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left &lt;= pivotIndex + 1</a:t>
            </a:r>
          </a:p>
        </p:txBody>
      </p:sp>
      <p:sp>
        <p:nvSpPr>
          <p:cNvPr id="4" name="Freeform 4"/>
          <p:cNvSpPr/>
          <p:nvPr/>
        </p:nvSpPr>
        <p:spPr>
          <a:xfrm>
            <a:off x="14615393" y="437483"/>
            <a:ext cx="2758207" cy="1551491"/>
          </a:xfrm>
          <a:custGeom>
            <a:avLst/>
            <a:gdLst/>
            <a:ahLst/>
            <a:cxnLst/>
            <a:rect l="l" t="t" r="r" b="b"/>
            <a:pathLst>
              <a:path w="2758207" h="1551491">
                <a:moveTo>
                  <a:pt x="0" y="0"/>
                </a:moveTo>
                <a:lnTo>
                  <a:pt x="2758207" y="0"/>
                </a:lnTo>
                <a:lnTo>
                  <a:pt x="2758207" y="1551491"/>
                </a:lnTo>
                <a:lnTo>
                  <a:pt x="0" y="15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49260" y="1023567"/>
            <a:ext cx="1181675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Variable Decrease and Conquer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1106" y="424080"/>
            <a:ext cx="11062941" cy="60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2F5597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DESIGN AND ANALYSIS OF ALGORITHMS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1107" y="2036782"/>
            <a:ext cx="16314086" cy="68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07"/>
              </a:lnSpc>
              <a:spcBef>
                <a:spcPct val="0"/>
              </a:spcBef>
            </a:pPr>
            <a:r>
              <a:rPr lang="en-US" sz="3923" b="1" u="none" strike="noStrike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Algorithm for QuickSelect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08">
            <a:off x="-41102" y="1965162"/>
            <a:ext cx="12507359" cy="0"/>
          </a:xfrm>
          <a:prstGeom prst="line">
            <a:avLst/>
          </a:prstGeom>
          <a:ln w="28575" cap="rnd">
            <a:solidFill>
              <a:srgbClr val="ED7D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615393" y="437483"/>
            <a:ext cx="2758207" cy="1551491"/>
          </a:xfrm>
          <a:custGeom>
            <a:avLst/>
            <a:gdLst/>
            <a:ahLst/>
            <a:cxnLst/>
            <a:rect l="l" t="t" r="r" b="b"/>
            <a:pathLst>
              <a:path w="2758207" h="1551491">
                <a:moveTo>
                  <a:pt x="0" y="0"/>
                </a:moveTo>
                <a:lnTo>
                  <a:pt x="2758207" y="0"/>
                </a:lnTo>
                <a:lnTo>
                  <a:pt x="2758207" y="1551491"/>
                </a:lnTo>
                <a:lnTo>
                  <a:pt x="0" y="15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967065" y="3180111"/>
            <a:ext cx="11648329" cy="6683229"/>
          </a:xfrm>
          <a:custGeom>
            <a:avLst/>
            <a:gdLst/>
            <a:ahLst/>
            <a:cxnLst/>
            <a:rect l="l" t="t" r="r" b="b"/>
            <a:pathLst>
              <a:path w="11648329" h="6683229">
                <a:moveTo>
                  <a:pt x="0" y="0"/>
                </a:moveTo>
                <a:lnTo>
                  <a:pt x="11648328" y="0"/>
                </a:lnTo>
                <a:lnTo>
                  <a:pt x="11648328" y="6683229"/>
                </a:lnTo>
                <a:lnTo>
                  <a:pt x="0" y="6683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49260" y="1023567"/>
            <a:ext cx="1181675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Variable Decrease and Conquer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1106" y="424080"/>
            <a:ext cx="11062941" cy="60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2F5597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DESIGN AND ANALYSIS OF ALGORITHMS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49837" y="2199873"/>
            <a:ext cx="10865556" cy="80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6"/>
              </a:lnSpc>
              <a:spcBef>
                <a:spcPct val="0"/>
              </a:spcBef>
            </a:pPr>
            <a:r>
              <a:rPr lang="en-US" sz="5322" b="1" spc="4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QuickSelect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253" y="198808"/>
            <a:ext cx="17365423" cy="9992745"/>
            <a:chOff x="0" y="0"/>
            <a:chExt cx="23153898" cy="13323660"/>
          </a:xfrm>
        </p:grpSpPr>
        <p:grpSp>
          <p:nvGrpSpPr>
            <p:cNvPr id="3" name="Group 3"/>
            <p:cNvGrpSpPr/>
            <p:nvPr/>
          </p:nvGrpSpPr>
          <p:grpSpPr>
            <a:xfrm>
              <a:off x="8595039" y="2609791"/>
              <a:ext cx="1392357" cy="632727"/>
              <a:chOff x="0" y="0"/>
              <a:chExt cx="298103" cy="1354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FFF7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4</a:t>
                </a: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9987396" y="2609791"/>
              <a:ext cx="1392357" cy="632727"/>
              <a:chOff x="0" y="0"/>
              <a:chExt cx="298103" cy="135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</a:t>
                </a: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1379753" y="2609791"/>
              <a:ext cx="1392357" cy="632727"/>
              <a:chOff x="0" y="0"/>
              <a:chExt cx="298103" cy="13546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10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2772110" y="2609791"/>
              <a:ext cx="1392357" cy="632727"/>
              <a:chOff x="0" y="0"/>
              <a:chExt cx="298103" cy="13546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8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4164467" y="2609791"/>
              <a:ext cx="1392357" cy="632727"/>
              <a:chOff x="0" y="0"/>
              <a:chExt cx="298103" cy="13546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7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5556824" y="2609791"/>
              <a:ext cx="1392357" cy="632727"/>
              <a:chOff x="0" y="0"/>
              <a:chExt cx="298103" cy="13546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12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6949181" y="2609791"/>
              <a:ext cx="1392357" cy="632727"/>
              <a:chOff x="0" y="0"/>
              <a:chExt cx="298103" cy="13546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9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8341538" y="2609791"/>
              <a:ext cx="1392357" cy="632727"/>
              <a:chOff x="0" y="0"/>
              <a:chExt cx="298103" cy="13546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2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9733895" y="2609791"/>
              <a:ext cx="1392357" cy="632727"/>
              <a:chOff x="0" y="0"/>
              <a:chExt cx="298103" cy="13546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15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8660986" y="1654707"/>
              <a:ext cx="12531212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0               1                2                3                4                5                6                7                8</a:t>
              </a:r>
            </a:p>
          </p:txBody>
        </p:sp>
        <p:sp>
          <p:nvSpPr>
            <p:cNvPr id="31" name="AutoShape 31"/>
            <p:cNvSpPr/>
            <p:nvPr/>
          </p:nvSpPr>
          <p:spPr>
            <a:xfrm>
              <a:off x="8660986" y="1435400"/>
              <a:ext cx="12531212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74962" y="836116"/>
              <a:ext cx="203959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415796" y="838094"/>
              <a:ext cx="289621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2692666"/>
              <a:ext cx="7647539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pivot(first element) = 4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616795" y="4168815"/>
              <a:ext cx="1392357" cy="632727"/>
              <a:chOff x="0" y="0"/>
              <a:chExt cx="298103" cy="135467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11401509" y="4168815"/>
              <a:ext cx="1392357" cy="632727"/>
              <a:chOff x="0" y="0"/>
              <a:chExt cx="298103" cy="13546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FFF7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4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2793866" y="4168815"/>
              <a:ext cx="1392357" cy="632727"/>
              <a:chOff x="0" y="0"/>
              <a:chExt cx="298103" cy="135467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10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4186223" y="4168815"/>
              <a:ext cx="1392357" cy="632727"/>
              <a:chOff x="0" y="0"/>
              <a:chExt cx="298103" cy="13546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8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5578580" y="4168815"/>
              <a:ext cx="1392357" cy="632727"/>
              <a:chOff x="0" y="0"/>
              <a:chExt cx="298103" cy="135467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7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6970937" y="4168815"/>
              <a:ext cx="1392357" cy="632727"/>
              <a:chOff x="0" y="0"/>
              <a:chExt cx="298103" cy="135467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12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8363294" y="4168815"/>
              <a:ext cx="1392357" cy="632727"/>
              <a:chOff x="0" y="0"/>
              <a:chExt cx="298103" cy="135467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9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10009152" y="4168815"/>
              <a:ext cx="1392357" cy="632727"/>
              <a:chOff x="0" y="0"/>
              <a:chExt cx="298103" cy="135467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2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9755650" y="4168815"/>
              <a:ext cx="1392357" cy="632727"/>
              <a:chOff x="0" y="0"/>
              <a:chExt cx="298103" cy="135467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15</a:t>
                </a:r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12737211" y="650253"/>
              <a:ext cx="4023876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k= 4th index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7263" y="-47625"/>
              <a:ext cx="22006635" cy="612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45"/>
                </a:lnSpc>
                <a:spcBef>
                  <a:spcPct val="0"/>
                </a:spcBef>
              </a:pPr>
              <a:r>
                <a:rPr lang="en-US" sz="2818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Find the 5th smallest element in the given array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874013" y="3604079"/>
              <a:ext cx="447349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</a:t>
              </a:r>
            </a:p>
          </p:txBody>
        </p:sp>
        <p:sp>
          <p:nvSpPr>
            <p:cNvPr id="65" name="AutoShape 65"/>
            <p:cNvSpPr/>
            <p:nvPr/>
          </p:nvSpPr>
          <p:spPr>
            <a:xfrm>
              <a:off x="8616795" y="3926761"/>
              <a:ext cx="2828905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09152" y="3418216"/>
              <a:ext cx="426047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</p:txBody>
        </p:sp>
        <p:sp>
          <p:nvSpPr>
            <p:cNvPr id="67" name="AutoShape 67"/>
            <p:cNvSpPr/>
            <p:nvPr/>
          </p:nvSpPr>
          <p:spPr>
            <a:xfrm>
              <a:off x="12793866" y="3926761"/>
              <a:ext cx="8354142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6604944" y="3418216"/>
              <a:ext cx="394320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121859" y="5135421"/>
              <a:ext cx="8558554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p&lt;k, repeat for right array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32573" y="6197108"/>
              <a:ext cx="8085823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pivot(first element) = 10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8639230" y="6114233"/>
              <a:ext cx="1392357" cy="632727"/>
              <a:chOff x="0" y="0"/>
              <a:chExt cx="298103" cy="135467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11423944" y="6114233"/>
              <a:ext cx="1392357" cy="632727"/>
              <a:chOff x="0" y="0"/>
              <a:chExt cx="298103" cy="135467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4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12816301" y="6114233"/>
              <a:ext cx="1392357" cy="632727"/>
              <a:chOff x="0" y="0"/>
              <a:chExt cx="298103" cy="135467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FFF7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10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14208658" y="6114233"/>
              <a:ext cx="1392357" cy="632727"/>
              <a:chOff x="0" y="0"/>
              <a:chExt cx="298103" cy="135467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8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15601015" y="6114233"/>
              <a:ext cx="1392357" cy="632727"/>
              <a:chOff x="0" y="0"/>
              <a:chExt cx="298103" cy="135467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7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16993372" y="6114233"/>
              <a:ext cx="1392357" cy="632727"/>
              <a:chOff x="0" y="0"/>
              <a:chExt cx="298103" cy="135467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12</a:t>
                </a: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18385729" y="6114233"/>
              <a:ext cx="1392357" cy="632727"/>
              <a:chOff x="0" y="0"/>
              <a:chExt cx="298103" cy="135467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9</a:t>
                </a: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10031587" y="6114233"/>
              <a:ext cx="1392357" cy="632727"/>
              <a:chOff x="0" y="0"/>
              <a:chExt cx="298103" cy="135467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2</a:t>
                </a: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19778086" y="6114233"/>
              <a:ext cx="1392357" cy="632727"/>
              <a:chOff x="0" y="0"/>
              <a:chExt cx="298103" cy="135467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15</a:t>
                </a: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8550169" y="8003569"/>
              <a:ext cx="1392357" cy="632727"/>
              <a:chOff x="0" y="0"/>
              <a:chExt cx="298103" cy="135467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</a:t>
                </a:r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>
              <a:off x="11334882" y="8003569"/>
              <a:ext cx="1392357" cy="632727"/>
              <a:chOff x="0" y="0"/>
              <a:chExt cx="298103" cy="135467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4</a:t>
                </a: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16904310" y="8003569"/>
              <a:ext cx="1392357" cy="632727"/>
              <a:chOff x="0" y="0"/>
              <a:chExt cx="298103" cy="135467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FFF7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10</a:t>
                </a:r>
              </a:p>
            </p:txBody>
          </p:sp>
        </p:grpSp>
        <p:grpSp>
          <p:nvGrpSpPr>
            <p:cNvPr id="107" name="Group 107"/>
            <p:cNvGrpSpPr/>
            <p:nvPr/>
          </p:nvGrpSpPr>
          <p:grpSpPr>
            <a:xfrm>
              <a:off x="12727239" y="8003569"/>
              <a:ext cx="1392357" cy="632727"/>
              <a:chOff x="0" y="0"/>
              <a:chExt cx="298103" cy="135467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8</a:t>
                </a: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14119596" y="8003569"/>
              <a:ext cx="1392357" cy="632727"/>
              <a:chOff x="0" y="0"/>
              <a:chExt cx="298103" cy="135467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7</a:t>
                </a:r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18296667" y="8003569"/>
              <a:ext cx="1392357" cy="632727"/>
              <a:chOff x="0" y="0"/>
              <a:chExt cx="298103" cy="135467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12</a:t>
                </a: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15511953" y="8003569"/>
              <a:ext cx="1392357" cy="632727"/>
              <a:chOff x="0" y="0"/>
              <a:chExt cx="298103" cy="135467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9</a:t>
                </a: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9942525" y="8003569"/>
              <a:ext cx="1392357" cy="632727"/>
              <a:chOff x="0" y="0"/>
              <a:chExt cx="298103" cy="135467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2</a:t>
                </a:r>
              </a:p>
            </p:txBody>
          </p:sp>
        </p:grpSp>
        <p:grpSp>
          <p:nvGrpSpPr>
            <p:cNvPr id="122" name="Group 122"/>
            <p:cNvGrpSpPr/>
            <p:nvPr/>
          </p:nvGrpSpPr>
          <p:grpSpPr>
            <a:xfrm>
              <a:off x="19689024" y="8003569"/>
              <a:ext cx="1392357" cy="632727"/>
              <a:chOff x="0" y="0"/>
              <a:chExt cx="298103" cy="135467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15</a:t>
                </a:r>
              </a:p>
            </p:txBody>
          </p:sp>
        </p:grpSp>
        <p:sp>
          <p:nvSpPr>
            <p:cNvPr id="125" name="TextBox 125"/>
            <p:cNvSpPr txBox="1"/>
            <p:nvPr/>
          </p:nvSpPr>
          <p:spPr>
            <a:xfrm>
              <a:off x="17340838" y="7385339"/>
              <a:ext cx="447349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</a:t>
              </a:r>
            </a:p>
          </p:txBody>
        </p:sp>
        <p:sp>
          <p:nvSpPr>
            <p:cNvPr id="126" name="AutoShape 126"/>
            <p:cNvSpPr/>
            <p:nvPr/>
          </p:nvSpPr>
          <p:spPr>
            <a:xfrm flipV="1">
              <a:off x="12727239" y="7708021"/>
              <a:ext cx="4185286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4389728" y="7199476"/>
              <a:ext cx="426047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</p:txBody>
        </p:sp>
        <p:sp>
          <p:nvSpPr>
            <p:cNvPr id="128" name="AutoShape 128"/>
            <p:cNvSpPr/>
            <p:nvPr/>
          </p:nvSpPr>
          <p:spPr>
            <a:xfrm>
              <a:off x="18260691" y="7708021"/>
              <a:ext cx="2820690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9549879" y="7199476"/>
              <a:ext cx="394320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120886" y="5133566"/>
              <a:ext cx="8558554" cy="416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p&lt;k, repeat for right array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1331643" y="9088812"/>
              <a:ext cx="8137039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 u="none" strike="noStrike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p&gt;k, repeat for left array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32573" y="10091180"/>
              <a:ext cx="8085823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pivot(first element) = 10</a:t>
              </a:r>
            </a:p>
          </p:txBody>
        </p:sp>
        <p:grpSp>
          <p:nvGrpSpPr>
            <p:cNvPr id="133" name="Group 133"/>
            <p:cNvGrpSpPr/>
            <p:nvPr/>
          </p:nvGrpSpPr>
          <p:grpSpPr>
            <a:xfrm>
              <a:off x="8639230" y="10008305"/>
              <a:ext cx="1392357" cy="632727"/>
              <a:chOff x="0" y="0"/>
              <a:chExt cx="298103" cy="135467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TextBox 135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</a:t>
                </a: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11423944" y="10008305"/>
              <a:ext cx="1392357" cy="632727"/>
              <a:chOff x="0" y="0"/>
              <a:chExt cx="298103" cy="135467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TextBox 138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4</a:t>
                </a: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12816301" y="10008305"/>
              <a:ext cx="1392357" cy="632727"/>
              <a:chOff x="0" y="0"/>
              <a:chExt cx="298103" cy="135467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FFF7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TextBox 141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8</a:t>
                </a: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14208658" y="10008305"/>
              <a:ext cx="1392357" cy="632727"/>
              <a:chOff x="0" y="0"/>
              <a:chExt cx="298103" cy="135467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TextBox 144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7</a:t>
                </a: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15601015" y="10008305"/>
              <a:ext cx="1392357" cy="632727"/>
              <a:chOff x="0" y="0"/>
              <a:chExt cx="298103" cy="13546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9</a:t>
                </a: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6993372" y="10008305"/>
              <a:ext cx="1392357" cy="632727"/>
              <a:chOff x="0" y="0"/>
              <a:chExt cx="298103" cy="135467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TextBox 150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10</a:t>
                </a: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18385729" y="10008305"/>
              <a:ext cx="1392357" cy="632727"/>
              <a:chOff x="0" y="0"/>
              <a:chExt cx="298103" cy="135467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TextBox 153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12</a:t>
                </a: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10031587" y="10008305"/>
              <a:ext cx="1392357" cy="632727"/>
              <a:chOff x="0" y="0"/>
              <a:chExt cx="298103" cy="135467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TextBox 156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2</a:t>
                </a:r>
              </a:p>
            </p:txBody>
          </p:sp>
        </p:grpSp>
        <p:sp>
          <p:nvSpPr>
            <p:cNvPr id="157" name="AutoShape 157"/>
            <p:cNvSpPr/>
            <p:nvPr/>
          </p:nvSpPr>
          <p:spPr>
            <a:xfrm>
              <a:off x="8639230" y="9982709"/>
              <a:ext cx="0" cy="683919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AutoShape 158"/>
            <p:cNvSpPr/>
            <p:nvPr/>
          </p:nvSpPr>
          <p:spPr>
            <a:xfrm>
              <a:off x="21170443" y="9982709"/>
              <a:ext cx="0" cy="683919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9" name="Group 159"/>
            <p:cNvGrpSpPr/>
            <p:nvPr/>
          </p:nvGrpSpPr>
          <p:grpSpPr>
            <a:xfrm>
              <a:off x="19778086" y="10008305"/>
              <a:ext cx="1392357" cy="632727"/>
              <a:chOff x="0" y="0"/>
              <a:chExt cx="298103" cy="135467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TextBox 161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15</a:t>
                </a:r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>
              <a:off x="8550169" y="11897642"/>
              <a:ext cx="1392357" cy="632727"/>
              <a:chOff x="0" y="0"/>
              <a:chExt cx="298103" cy="135467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TextBox 164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</a:t>
                </a:r>
              </a:p>
            </p:txBody>
          </p:sp>
        </p:grpSp>
        <p:grpSp>
          <p:nvGrpSpPr>
            <p:cNvPr id="165" name="Group 165"/>
            <p:cNvGrpSpPr/>
            <p:nvPr/>
          </p:nvGrpSpPr>
          <p:grpSpPr>
            <a:xfrm>
              <a:off x="11334882" y="11897642"/>
              <a:ext cx="1392357" cy="632727"/>
              <a:chOff x="0" y="0"/>
              <a:chExt cx="298103" cy="135467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TextBox 167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4</a:t>
                </a:r>
              </a:p>
            </p:txBody>
          </p:sp>
        </p:grpSp>
        <p:grpSp>
          <p:nvGrpSpPr>
            <p:cNvPr id="168" name="Group 168"/>
            <p:cNvGrpSpPr/>
            <p:nvPr/>
          </p:nvGrpSpPr>
          <p:grpSpPr>
            <a:xfrm>
              <a:off x="16904310" y="11897642"/>
              <a:ext cx="1392357" cy="632727"/>
              <a:chOff x="0" y="0"/>
              <a:chExt cx="298103" cy="135467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TextBox 170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10</a:t>
                </a:r>
              </a:p>
            </p:txBody>
          </p:sp>
        </p:grpSp>
        <p:grpSp>
          <p:nvGrpSpPr>
            <p:cNvPr id="171" name="Group 171"/>
            <p:cNvGrpSpPr/>
            <p:nvPr/>
          </p:nvGrpSpPr>
          <p:grpSpPr>
            <a:xfrm>
              <a:off x="12727239" y="11897642"/>
              <a:ext cx="1392357" cy="632727"/>
              <a:chOff x="0" y="0"/>
              <a:chExt cx="298103" cy="135467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TextBox 173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7</a:t>
                </a:r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>
              <a:off x="14119596" y="11897642"/>
              <a:ext cx="1392357" cy="632727"/>
              <a:chOff x="0" y="0"/>
              <a:chExt cx="298103" cy="135467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FFF7AD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TextBox 176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8</a:t>
                </a:r>
              </a:p>
            </p:txBody>
          </p:sp>
        </p:grpSp>
        <p:grpSp>
          <p:nvGrpSpPr>
            <p:cNvPr id="177" name="Group 177"/>
            <p:cNvGrpSpPr/>
            <p:nvPr/>
          </p:nvGrpSpPr>
          <p:grpSpPr>
            <a:xfrm>
              <a:off x="18296667" y="11897642"/>
              <a:ext cx="1392357" cy="632727"/>
              <a:chOff x="0" y="0"/>
              <a:chExt cx="298103" cy="135467"/>
            </a:xfrm>
          </p:grpSpPr>
          <p:sp>
            <p:nvSpPr>
              <p:cNvPr id="178" name="Freeform 178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TextBox 179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12</a:t>
                </a:r>
              </a:p>
            </p:txBody>
          </p:sp>
        </p:grpSp>
        <p:grpSp>
          <p:nvGrpSpPr>
            <p:cNvPr id="180" name="Group 180"/>
            <p:cNvGrpSpPr/>
            <p:nvPr/>
          </p:nvGrpSpPr>
          <p:grpSpPr>
            <a:xfrm>
              <a:off x="15511953" y="11897642"/>
              <a:ext cx="1392357" cy="632727"/>
              <a:chOff x="0" y="0"/>
              <a:chExt cx="298103" cy="135467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TextBox 182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9</a:t>
                </a:r>
              </a:p>
            </p:txBody>
          </p:sp>
        </p:grpSp>
        <p:grpSp>
          <p:nvGrpSpPr>
            <p:cNvPr id="183" name="Group 183"/>
            <p:cNvGrpSpPr/>
            <p:nvPr/>
          </p:nvGrpSpPr>
          <p:grpSpPr>
            <a:xfrm>
              <a:off x="9942525" y="11897642"/>
              <a:ext cx="1392357" cy="632727"/>
              <a:chOff x="0" y="0"/>
              <a:chExt cx="298103" cy="135467"/>
            </a:xfrm>
          </p:grpSpPr>
          <p:sp>
            <p:nvSpPr>
              <p:cNvPr id="184" name="Freeform 184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2</a:t>
                </a:r>
              </a:p>
            </p:txBody>
          </p:sp>
        </p:grpSp>
        <p:sp>
          <p:nvSpPr>
            <p:cNvPr id="186" name="AutoShape 186"/>
            <p:cNvSpPr/>
            <p:nvPr/>
          </p:nvSpPr>
          <p:spPr>
            <a:xfrm>
              <a:off x="8550169" y="11872045"/>
              <a:ext cx="0" cy="683919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AutoShape 187"/>
            <p:cNvSpPr/>
            <p:nvPr/>
          </p:nvSpPr>
          <p:spPr>
            <a:xfrm>
              <a:off x="21081381" y="11872045"/>
              <a:ext cx="0" cy="683919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8" name="Group 188"/>
            <p:cNvGrpSpPr/>
            <p:nvPr/>
          </p:nvGrpSpPr>
          <p:grpSpPr>
            <a:xfrm>
              <a:off x="19689024" y="11897642"/>
              <a:ext cx="1392357" cy="632727"/>
              <a:chOff x="0" y="0"/>
              <a:chExt cx="298103" cy="135467"/>
            </a:xfrm>
          </p:grpSpPr>
          <p:sp>
            <p:nvSpPr>
              <p:cNvPr id="189" name="Freeform 189"/>
              <p:cNvSpPr/>
              <p:nvPr/>
            </p:nvSpPr>
            <p:spPr>
              <a:xfrm>
                <a:off x="0" y="0"/>
                <a:ext cx="298103" cy="135467"/>
              </a:xfrm>
              <a:custGeom>
                <a:avLst/>
                <a:gdLst/>
                <a:ahLst/>
                <a:cxnLst/>
                <a:rect l="l" t="t" r="r" b="b"/>
                <a:pathLst>
                  <a:path w="298103" h="135467">
                    <a:moveTo>
                      <a:pt x="0" y="0"/>
                    </a:moveTo>
                    <a:lnTo>
                      <a:pt x="298103" y="0"/>
                    </a:lnTo>
                    <a:lnTo>
                      <a:pt x="298103" y="135467"/>
                    </a:lnTo>
                    <a:lnTo>
                      <a:pt x="0" y="135467"/>
                    </a:lnTo>
                    <a:close/>
                  </a:path>
                </a:pathLst>
              </a:custGeom>
              <a:solidFill>
                <a:srgbClr val="A6A6A6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TextBox 190"/>
              <p:cNvSpPr txBox="1"/>
              <p:nvPr/>
            </p:nvSpPr>
            <p:spPr>
              <a:xfrm>
                <a:off x="0" y="-19050"/>
                <a:ext cx="298103" cy="154517"/>
              </a:xfrm>
              <a:prstGeom prst="rect">
                <a:avLst/>
              </a:prstGeom>
            </p:spPr>
            <p:txBody>
              <a:bodyPr lIns="79091" tIns="79091" rIns="79091" bIns="79091" rtlCol="0" anchor="ctr"/>
              <a:lstStyle/>
              <a:p>
                <a:pPr algn="ctr">
                  <a:lnSpc>
                    <a:spcPts val="1679"/>
                  </a:lnSpc>
                  <a:spcBef>
                    <a:spcPct val="0"/>
                  </a:spcBef>
                </a:pPr>
                <a:r>
                  <a:rPr lang="en-US" sz="11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15</a:t>
                </a:r>
              </a:p>
            </p:txBody>
          </p:sp>
        </p:grpSp>
        <p:sp>
          <p:nvSpPr>
            <p:cNvPr id="191" name="TextBox 191"/>
            <p:cNvSpPr txBox="1"/>
            <p:nvPr/>
          </p:nvSpPr>
          <p:spPr>
            <a:xfrm>
              <a:off x="14556124" y="11279412"/>
              <a:ext cx="447349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</a:t>
              </a:r>
            </a:p>
          </p:txBody>
        </p:sp>
        <p:sp>
          <p:nvSpPr>
            <p:cNvPr id="192" name="AutoShape 192"/>
            <p:cNvSpPr/>
            <p:nvPr/>
          </p:nvSpPr>
          <p:spPr>
            <a:xfrm>
              <a:off x="12838057" y="11602094"/>
              <a:ext cx="1289754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13277021" y="11093549"/>
              <a:ext cx="426047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</p:txBody>
        </p:sp>
        <p:sp>
          <p:nvSpPr>
            <p:cNvPr id="194" name="AutoShape 194"/>
            <p:cNvSpPr/>
            <p:nvPr/>
          </p:nvSpPr>
          <p:spPr>
            <a:xfrm>
              <a:off x="15475977" y="11602094"/>
              <a:ext cx="1428333" cy="0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16010972" y="11093549"/>
              <a:ext cx="394320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</a:t>
              </a:r>
            </a:p>
          </p:txBody>
        </p:sp>
        <p:sp>
          <p:nvSpPr>
            <p:cNvPr id="196" name="AutoShape 196"/>
            <p:cNvSpPr/>
            <p:nvPr/>
          </p:nvSpPr>
          <p:spPr>
            <a:xfrm flipH="1">
              <a:off x="14882401" y="2074058"/>
              <a:ext cx="9274" cy="10797275"/>
            </a:xfrm>
            <a:prstGeom prst="line">
              <a:avLst/>
            </a:prstGeom>
            <a:ln w="127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TextBox 197"/>
            <p:cNvSpPr txBox="1"/>
            <p:nvPr/>
          </p:nvSpPr>
          <p:spPr>
            <a:xfrm>
              <a:off x="10484148" y="12904308"/>
              <a:ext cx="8508697" cy="41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5"/>
                </a:lnSpc>
                <a:spcBef>
                  <a:spcPct val="0"/>
                </a:spcBef>
              </a:pPr>
              <a:r>
                <a:rPr lang="en-US" sz="1868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5th smallest element is 8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08">
            <a:off x="-41102" y="1965162"/>
            <a:ext cx="12507359" cy="0"/>
          </a:xfrm>
          <a:prstGeom prst="line">
            <a:avLst/>
          </a:prstGeom>
          <a:ln w="28575" cap="rnd">
            <a:solidFill>
              <a:srgbClr val="ED7D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01635" y="2057400"/>
            <a:ext cx="16960978" cy="816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59"/>
              </a:lnSpc>
            </a:pPr>
            <a:r>
              <a:rPr lang="en-US" sz="4299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 Complexities for QuickSelect</a:t>
            </a:r>
          </a:p>
          <a:p>
            <a:pPr algn="just">
              <a:lnSpc>
                <a:spcPts val="4559"/>
              </a:lnSpc>
            </a:pPr>
            <a:endParaRPr lang="en-US" sz="4299" b="1">
              <a:solidFill>
                <a:srgbClr val="2F5597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559"/>
              </a:lnSpc>
            </a:pPr>
            <a:r>
              <a:rPr lang="en-US" sz="3799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Best Case: </a:t>
            </a:r>
          </a:p>
          <a:p>
            <a:pPr marL="820419" lvl="1" indent="-410209" algn="just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best case occurs when the pivot chosen is always the median of the array. This perfectly divides the array in half at each step.</a:t>
            </a:r>
          </a:p>
          <a:p>
            <a:pPr marL="820419" lvl="1" indent="-410209" algn="just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recurrence relation: T(n)=T(n/2)+O(n) </a:t>
            </a:r>
          </a:p>
          <a:p>
            <a:pPr marL="820419" lvl="1" indent="-410209" algn="just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Solving this gives O(n) time complexity, and the problem size is reduced exponentially.</a:t>
            </a:r>
          </a:p>
          <a:p>
            <a:pPr algn="just">
              <a:lnSpc>
                <a:spcPts val="4559"/>
              </a:lnSpc>
            </a:pPr>
            <a:r>
              <a:rPr lang="en-US" sz="3799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Worst Case: </a:t>
            </a:r>
          </a:p>
          <a:p>
            <a:pPr marL="820419" lvl="1" indent="-410209" algn="just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worst case occurs when the pivot selection is poor, e.g., always choosing the smallest or largest element. This results in highly unbalanced partitions, where one side has n - 1 elements and the other has 0.</a:t>
            </a:r>
          </a:p>
          <a:p>
            <a:pPr marL="820419" lvl="1" indent="-410209" algn="just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recurrence becomes: T(n)=T(n−1)+O(n) </a:t>
            </a:r>
          </a:p>
          <a:p>
            <a:pPr marL="820419" lvl="1" indent="-410209" algn="just">
              <a:lnSpc>
                <a:spcPts val="4559"/>
              </a:lnSpc>
              <a:buFont typeface="Arial"/>
              <a:buChar char="•"/>
            </a:pPr>
            <a:r>
              <a:rPr lang="en-US" sz="3799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Solving this gives O(n²) time complexity.</a:t>
            </a:r>
          </a:p>
        </p:txBody>
      </p:sp>
      <p:sp>
        <p:nvSpPr>
          <p:cNvPr id="4" name="Freeform 4"/>
          <p:cNvSpPr/>
          <p:nvPr/>
        </p:nvSpPr>
        <p:spPr>
          <a:xfrm>
            <a:off x="14615393" y="437483"/>
            <a:ext cx="2758207" cy="1551491"/>
          </a:xfrm>
          <a:custGeom>
            <a:avLst/>
            <a:gdLst/>
            <a:ahLst/>
            <a:cxnLst/>
            <a:rect l="l" t="t" r="r" b="b"/>
            <a:pathLst>
              <a:path w="2758207" h="1551491">
                <a:moveTo>
                  <a:pt x="0" y="0"/>
                </a:moveTo>
                <a:lnTo>
                  <a:pt x="2758207" y="0"/>
                </a:lnTo>
                <a:lnTo>
                  <a:pt x="2758207" y="1551491"/>
                </a:lnTo>
                <a:lnTo>
                  <a:pt x="0" y="15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49260" y="1023567"/>
            <a:ext cx="1181675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Variable Decrease and Conquer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1106" y="424080"/>
            <a:ext cx="11062941" cy="60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2F5597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DESIGN AND ANALYSIS OF ALGORITHMS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08">
            <a:off x="-41102" y="1965162"/>
            <a:ext cx="12507359" cy="0"/>
          </a:xfrm>
          <a:prstGeom prst="line">
            <a:avLst/>
          </a:prstGeom>
          <a:ln w="28575" cap="rnd">
            <a:solidFill>
              <a:srgbClr val="ED7D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71581" y="2123659"/>
            <a:ext cx="16912479" cy="783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36"/>
              </a:lnSpc>
            </a:pPr>
            <a:r>
              <a:rPr lang="en-US" sz="3697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 the Worst Case Complexity</a:t>
            </a:r>
          </a:p>
          <a:p>
            <a:pPr algn="just">
              <a:lnSpc>
                <a:spcPts val="4059"/>
              </a:lnSpc>
            </a:pPr>
            <a:endParaRPr lang="en-US" sz="3697" b="1">
              <a:solidFill>
                <a:srgbClr val="2F5597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059"/>
              </a:lnSpc>
            </a:pPr>
            <a:r>
              <a:rPr lang="en-US" sz="3382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two key ways to achieve better worst-case complexity:</a:t>
            </a:r>
          </a:p>
          <a:p>
            <a:pPr marL="730321" lvl="1" indent="-365160" algn="just">
              <a:lnSpc>
                <a:spcPts val="4059"/>
              </a:lnSpc>
              <a:buAutoNum type="arabicPeriod"/>
            </a:pPr>
            <a:r>
              <a:rPr lang="en-US" sz="3382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Choosing a Better Pivot Selection Strategy such as Median of Medians Algorithm.</a:t>
            </a:r>
          </a:p>
          <a:p>
            <a:pPr marL="730321" lvl="1" indent="-365160" algn="just">
              <a:lnSpc>
                <a:spcPts val="4059"/>
              </a:lnSpc>
              <a:buAutoNum type="arabicPeriod"/>
            </a:pPr>
            <a:r>
              <a:rPr lang="en-US" sz="3382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an Improved Partitioning Algorithm such as using Hoare’s Partition Scheme instead of Lomuto’s Partition Scheme can improve efficiency by reducing swaps.</a:t>
            </a:r>
          </a:p>
          <a:p>
            <a:pPr algn="just">
              <a:lnSpc>
                <a:spcPts val="4059"/>
              </a:lnSpc>
            </a:pPr>
            <a:endParaRPr lang="en-US" sz="3382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059"/>
              </a:lnSpc>
            </a:pPr>
            <a:r>
              <a:rPr lang="en-US" sz="3382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Median of Medians Algorithm</a:t>
            </a:r>
            <a:r>
              <a:rPr lang="en-US" sz="3382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(Guaranteed O(n) Worst-Case):</a:t>
            </a:r>
          </a:p>
          <a:p>
            <a:pPr algn="just">
              <a:lnSpc>
                <a:spcPts val="4059"/>
              </a:lnSpc>
            </a:pPr>
            <a:r>
              <a:rPr lang="en-US" sz="3382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We need to </a:t>
            </a:r>
            <a:r>
              <a:rPr lang="en-US" sz="3382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choose a pivot close to the median</a:t>
            </a:r>
            <a:r>
              <a:rPr lang="en-US" sz="3382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consistently. This ensures better partitioning and prevents highly unbalanced cases.</a:t>
            </a:r>
          </a:p>
          <a:p>
            <a:pPr marL="730321" lvl="1" indent="-365160" algn="just">
              <a:lnSpc>
                <a:spcPts val="4059"/>
              </a:lnSpc>
              <a:buFont typeface="Arial"/>
              <a:buChar char="•"/>
            </a:pPr>
            <a:r>
              <a:rPr lang="en-US" sz="3382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 the array into groups of 5 elements (or another small fixed size).</a:t>
            </a:r>
          </a:p>
          <a:p>
            <a:pPr marL="730321" lvl="1" indent="-365160" algn="just">
              <a:lnSpc>
                <a:spcPts val="4059"/>
              </a:lnSpc>
              <a:buFont typeface="Arial"/>
              <a:buChar char="•"/>
            </a:pPr>
            <a:r>
              <a:rPr lang="en-US" sz="3382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median of each group.</a:t>
            </a:r>
          </a:p>
          <a:p>
            <a:pPr marL="730321" lvl="1" indent="-365160" algn="just">
              <a:lnSpc>
                <a:spcPts val="4059"/>
              </a:lnSpc>
              <a:buFont typeface="Arial"/>
              <a:buChar char="•"/>
            </a:pPr>
            <a:r>
              <a:rPr lang="en-US" sz="3382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Recursively find the median of these medians to use as the pivot.</a:t>
            </a:r>
          </a:p>
          <a:p>
            <a:pPr marL="730321" lvl="1" indent="-365160" algn="just">
              <a:lnSpc>
                <a:spcPts val="4059"/>
              </a:lnSpc>
              <a:buFont typeface="Arial"/>
              <a:buChar char="•"/>
            </a:pPr>
            <a:r>
              <a:rPr lang="en-US" sz="3382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a pivot that is reasonably close to the true median, avoiding worst-case O(n²).</a:t>
            </a:r>
          </a:p>
          <a:p>
            <a:pPr marL="730321" lvl="1" indent="-365160" algn="just">
              <a:lnSpc>
                <a:spcPts val="4059"/>
              </a:lnSpc>
              <a:buFont typeface="Arial"/>
              <a:buChar char="•"/>
            </a:pPr>
            <a:r>
              <a:rPr lang="en-US" sz="3382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Guarantees O(n) worst-case time complexity.</a:t>
            </a:r>
          </a:p>
        </p:txBody>
      </p:sp>
      <p:sp>
        <p:nvSpPr>
          <p:cNvPr id="4" name="Freeform 4"/>
          <p:cNvSpPr/>
          <p:nvPr/>
        </p:nvSpPr>
        <p:spPr>
          <a:xfrm>
            <a:off x="14615393" y="437483"/>
            <a:ext cx="2758207" cy="1551491"/>
          </a:xfrm>
          <a:custGeom>
            <a:avLst/>
            <a:gdLst/>
            <a:ahLst/>
            <a:cxnLst/>
            <a:rect l="l" t="t" r="r" b="b"/>
            <a:pathLst>
              <a:path w="2758207" h="1551491">
                <a:moveTo>
                  <a:pt x="0" y="0"/>
                </a:moveTo>
                <a:lnTo>
                  <a:pt x="2758207" y="0"/>
                </a:lnTo>
                <a:lnTo>
                  <a:pt x="2758207" y="1551491"/>
                </a:lnTo>
                <a:lnTo>
                  <a:pt x="0" y="15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49260" y="1023567"/>
            <a:ext cx="1181675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Variable Decrease and Conquer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1106" y="424080"/>
            <a:ext cx="11062941" cy="60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2F5597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DESIGN AND ANALYSIS OF ALGORITHMS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708">
            <a:off x="-41102" y="1965162"/>
            <a:ext cx="12507359" cy="0"/>
          </a:xfrm>
          <a:prstGeom prst="line">
            <a:avLst/>
          </a:prstGeom>
          <a:ln w="28575" cap="rnd">
            <a:solidFill>
              <a:srgbClr val="ED7D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71581" y="2071271"/>
            <a:ext cx="16912479" cy="794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36"/>
              </a:lnSpc>
            </a:pPr>
            <a:r>
              <a:rPr lang="en-US" sz="3697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utilizing </a:t>
            </a:r>
            <a:r>
              <a:rPr lang="en-US" sz="3697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variable-size Decrease and Conquer</a:t>
            </a:r>
            <a:r>
              <a:rPr lang="en-US" sz="3697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optimized the Selection Algorithm, making median computation more efficient.</a:t>
            </a:r>
          </a:p>
          <a:p>
            <a:pPr algn="just">
              <a:lnSpc>
                <a:spcPts val="4436"/>
              </a:lnSpc>
            </a:pPr>
            <a:endParaRPr lang="en-US" sz="3697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436"/>
              </a:lnSpc>
            </a:pPr>
            <a:r>
              <a:rPr lang="en-US" sz="3697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traditional divide-and-conquer, where the problem size is reduced by a fixed factor (e.g., halving in binary search),</a:t>
            </a:r>
            <a:r>
              <a:rPr lang="en-US" sz="3697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variable-size</a:t>
            </a:r>
            <a:r>
              <a:rPr lang="en-US" sz="3697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reduction allows for </a:t>
            </a:r>
            <a:r>
              <a:rPr lang="en-US" sz="3697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 problem</a:t>
            </a:r>
            <a:r>
              <a:rPr lang="en-US" sz="3697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shrinking at each step. In Quick Select, this means:</a:t>
            </a:r>
          </a:p>
          <a:p>
            <a:pPr marL="798256" lvl="1" indent="-399128" algn="just">
              <a:lnSpc>
                <a:spcPts val="4436"/>
              </a:lnSpc>
              <a:buFont typeface="Arial"/>
              <a:buChar char="•"/>
            </a:pPr>
            <a:r>
              <a:rPr lang="en-US" sz="3697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processing the entire array, we eliminate a portion based on the pivot's position.</a:t>
            </a:r>
          </a:p>
          <a:p>
            <a:pPr marL="798256" lvl="1" indent="-399128" algn="just">
              <a:lnSpc>
                <a:spcPts val="4436"/>
              </a:lnSpc>
              <a:buFont typeface="Arial"/>
              <a:buChar char="•"/>
            </a:pPr>
            <a:r>
              <a:rPr lang="en-US" sz="3697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size reduction varies </a:t>
            </a:r>
            <a:r>
              <a:rPr lang="en-US" sz="3697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dynamically</a:t>
            </a:r>
            <a:r>
              <a:rPr lang="en-US" sz="3697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depending on where the pivot is placed.</a:t>
            </a:r>
          </a:p>
          <a:p>
            <a:pPr marL="798256" lvl="1" indent="-399128" algn="just">
              <a:lnSpc>
                <a:spcPts val="4436"/>
              </a:lnSpc>
              <a:buFont typeface="Arial"/>
              <a:buChar char="•"/>
            </a:pPr>
            <a:r>
              <a:rPr lang="en-US" sz="3697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flexibility enables an </a:t>
            </a:r>
            <a:r>
              <a:rPr lang="en-US" sz="3697" b="1">
                <a:solidFill>
                  <a:srgbClr val="2F559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O(n)</a:t>
            </a:r>
            <a:r>
              <a:rPr lang="en-US" sz="3697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average-time complexity, significantly improving over naive sorting methods.</a:t>
            </a:r>
          </a:p>
          <a:p>
            <a:pPr algn="just">
              <a:lnSpc>
                <a:spcPts val="4436"/>
              </a:lnSpc>
            </a:pPr>
            <a:endParaRPr lang="en-US" sz="3697">
              <a:solidFill>
                <a:srgbClr val="2F559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436"/>
              </a:lnSpc>
            </a:pPr>
            <a:r>
              <a:rPr lang="en-US" sz="3697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variable Decrease and Conquer, we were able to directly target the element we needed, making the solution far more efficient.</a:t>
            </a:r>
          </a:p>
        </p:txBody>
      </p:sp>
      <p:sp>
        <p:nvSpPr>
          <p:cNvPr id="4" name="Freeform 4"/>
          <p:cNvSpPr/>
          <p:nvPr/>
        </p:nvSpPr>
        <p:spPr>
          <a:xfrm>
            <a:off x="14615393" y="437483"/>
            <a:ext cx="2758207" cy="1551491"/>
          </a:xfrm>
          <a:custGeom>
            <a:avLst/>
            <a:gdLst/>
            <a:ahLst/>
            <a:cxnLst/>
            <a:rect l="l" t="t" r="r" b="b"/>
            <a:pathLst>
              <a:path w="2758207" h="1551491">
                <a:moveTo>
                  <a:pt x="0" y="0"/>
                </a:moveTo>
                <a:lnTo>
                  <a:pt x="2758207" y="0"/>
                </a:lnTo>
                <a:lnTo>
                  <a:pt x="2758207" y="1551491"/>
                </a:lnTo>
                <a:lnTo>
                  <a:pt x="0" y="155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49260" y="1023567"/>
            <a:ext cx="1181675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Variable Decrease and Conquer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1106" y="424080"/>
            <a:ext cx="11062941" cy="601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spc="33">
                <a:solidFill>
                  <a:srgbClr val="2F5597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DESIGN AND ANALYSIS OF ALGORITHMS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0766" y="524199"/>
            <a:ext cx="17277611" cy="9327582"/>
          </a:xfrm>
          <a:custGeom>
            <a:avLst/>
            <a:gdLst/>
            <a:ahLst/>
            <a:cxnLst/>
            <a:rect l="l" t="t" r="r" b="b"/>
            <a:pathLst>
              <a:path w="17277611" h="9327582">
                <a:moveTo>
                  <a:pt x="0" y="0"/>
                </a:moveTo>
                <a:lnTo>
                  <a:pt x="17277611" y="0"/>
                </a:lnTo>
                <a:lnTo>
                  <a:pt x="17277611" y="9327582"/>
                </a:lnTo>
                <a:lnTo>
                  <a:pt x="0" y="9327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-28353">
            <a:off x="8143559" y="4311911"/>
            <a:ext cx="6929559" cy="0"/>
          </a:xfrm>
          <a:prstGeom prst="line">
            <a:avLst/>
          </a:prstGeom>
          <a:ln w="47625" cap="rnd">
            <a:solidFill>
              <a:srgbClr val="ED7D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263692" y="3119997"/>
            <a:ext cx="6722829" cy="90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 spc="50">
                <a:solidFill>
                  <a:srgbClr val="C55A11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2082111" y="3696173"/>
            <a:ext cx="4773114" cy="2684877"/>
          </a:xfrm>
          <a:custGeom>
            <a:avLst/>
            <a:gdLst/>
            <a:ahLst/>
            <a:cxnLst/>
            <a:rect l="l" t="t" r="r" b="b"/>
            <a:pathLst>
              <a:path w="4773114" h="2684877">
                <a:moveTo>
                  <a:pt x="0" y="0"/>
                </a:moveTo>
                <a:lnTo>
                  <a:pt x="4773114" y="0"/>
                </a:lnTo>
                <a:lnTo>
                  <a:pt x="4773114" y="2684877"/>
                </a:lnTo>
                <a:lnTo>
                  <a:pt x="0" y="2684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647" t="-232516" r="-340962" b="-18677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1094</Words>
  <Application>Microsoft Office PowerPoint</Application>
  <PresentationFormat>Custom</PresentationFormat>
  <Paragraphs>194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Canva Sans</vt:lpstr>
      <vt:lpstr>TT Rounds Condensed Bold</vt:lpstr>
      <vt:lpstr>Times New Roman</vt:lpstr>
      <vt:lpstr>Arial</vt:lpstr>
      <vt:lpstr>Times New Roman Bold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UE19CS251_23496_20210218135416.pptx</dc:title>
  <dc:creator>Vandana Ladwani</dc:creator>
  <cp:lastModifiedBy>gulshan vaswani</cp:lastModifiedBy>
  <cp:revision>3</cp:revision>
  <dcterms:created xsi:type="dcterms:W3CDTF">2006-08-16T00:00:00Z</dcterms:created>
  <dcterms:modified xsi:type="dcterms:W3CDTF">2025-02-03T10:53:04Z</dcterms:modified>
  <dc:identifier>DAGdsHjVK2I</dc:identifier>
</cp:coreProperties>
</file>