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slideshow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57" r:id="rId2"/>
    <p:sldId id="358" r:id="rId3"/>
    <p:sldId id="439" r:id="rId4"/>
    <p:sldId id="440" r:id="rId5"/>
    <p:sldId id="441" r:id="rId6"/>
    <p:sldId id="444" r:id="rId7"/>
    <p:sldId id="443" r:id="rId8"/>
    <p:sldId id="42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FF3399"/>
    <a:srgbClr val="47269A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-528" y="-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EFE7196-0A1D-43F9-96F8-6131A8C3E5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2591A347-14E4-4DA6-8466-E20F5DD0C1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7F25BB59-6C06-4608-B9C2-AFD556E0E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12-02-2024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E024737-A7EA-405D-9C53-00DC76358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5AFCA8F-5152-4E17-A634-AAC30C0A1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50938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EB97697-0E3B-45DE-993E-41D6192C5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4F5D431-817D-468E-AC74-4AEFB8C24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CE66076-D71B-432E-B3DA-D6BFA8E70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12-02-2024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6E9EAE1-A891-420F-AABF-E5D357075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2050AF0-4B82-4D90-9977-2702EFAD0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998037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1876000-B1F3-49B4-8840-4F2FE09F3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CF9AD8B6-0C53-47EB-9E27-9A8CFF9C0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14A0F0A-5BC1-44A8-A937-DAAFBEA3C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12-02-2024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516B7DB-3DF3-4E87-84F1-6D3BB836F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2586888-F8BA-4159-BE04-8C9B0A74B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891180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631BC13-A691-4A44-8F09-DEAB94E6E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C0470BA-CF69-482F-86D7-B3B2B81039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06EF3F02-F9D9-4D4B-932D-10D3C70151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8154D0B3-961E-4BAC-9CA4-08D89CF82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12-02-2024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8DD4364F-C564-48E4-84D0-352B17CE6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16B6F2F7-150E-4C49-B6B7-8E72E6E8E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75150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4D61F13-E7B0-4450-891A-12D3F0031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4A070134-48F1-45F0-9C63-38634B426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04F6F59C-8B0A-4097-8A5D-BA9FB1FC2E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EC0E4A01-83B3-465C-B056-C028FF594C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1CDF7CD2-C62B-450F-A438-929A17296D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513DBE79-A9B6-48AB-9F01-88AA6A05B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12-02-2024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FCA1A849-F61D-416C-82D9-FD2F0D5B2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2D4E5968-BD8E-49EA-B1C0-883FDCD51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4074283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295C0C5-C1DF-4B30-86BF-702058A09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39980EB2-6319-452D-816A-655EE9C34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12-02-2024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12847E02-77DD-4F7C-9461-431051F30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A5B48EC9-FFDF-4F14-A006-9ED08C221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735135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4DAC4010-3CC3-4ED9-BC47-437A2B958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12-02-2024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E80484C3-38E2-44A7-AD87-98DF739A7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D707CE2B-838A-454A-852B-8EAFFA5B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180888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D518C39-136A-490F-82E6-B74F16102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C4E3FA5-A6D0-407B-9353-45807BDC7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1665529D-8A1D-4CEC-ACF2-A9668B5DF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451B61FA-7B4A-49EE-9F1B-8F14E749E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12-02-2024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BB6BDBE7-EB71-426C-8E02-2F39733F7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F4714907-13EA-4E79-8417-0EC5E502E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337483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23C4529-7C3C-4D10-AD9C-86CB67D2B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E2173FF7-1E37-47DA-BCCB-AFDD0F6F84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F0C43DAF-8DA8-48F8-B118-56B11692BF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44DBE107-EEF1-4F60-8BFB-A0B8F32EF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12-02-2024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3BB2FC9C-1AB4-400D-8A60-C7B3A8058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3125E51E-1606-443F-8DDC-5BC7A3D91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805698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A181B9E-9443-4F41-8CDB-8E6E4CF27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8637440A-C0A0-4620-8CB7-BC24F4E100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1ECDE26-EE92-4514-B595-DD288D69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12-02-2024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AB18649-6317-4A86-BF87-6BCCFA208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A9FA2ED-B0E3-48EA-BF01-F14C24A36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876270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0C195C72-B502-4011-AB72-4BBC7CCE94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D1A45A48-60F9-47B3-9E1A-0E76EE6ED6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1C2F640-11BE-4566-9603-D1D7F7E96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12-02-2024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F45CB06-5043-4F88-9848-829BAD7A0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B693EAC-3ADD-4236-B7D3-0540B8D65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910687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BF435DF9-745D-444C-9DD7-A6DD95468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4FA09DCF-D326-45B4-9E4E-070E325317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480EC5D-D4D0-42B9-9170-212F1B335C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17A1C5-95F7-4229-A93B-29F7FF3DA000}" type="datetimeFigureOut">
              <a:rPr lang="en-IN" smtClean="0"/>
              <a:pPr/>
              <a:t>12-02-2024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77E3022-2659-46A1-A7BE-9894421E21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6EAFC63-250A-46C7-8FC2-85F3F3181D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921426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5DFE3490-CF8C-4FDE-9D71-2170861F2A61}"/>
              </a:ext>
            </a:extLst>
          </p:cNvPr>
          <p:cNvSpPr/>
          <p:nvPr/>
        </p:nvSpPr>
        <p:spPr>
          <a:xfrm>
            <a:off x="4694784" y="2202232"/>
            <a:ext cx="489335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smtClean="0">
                <a:solidFill>
                  <a:schemeClr val="accent2">
                    <a:lumMod val="75000"/>
                  </a:schemeClr>
                </a:solidFill>
              </a:rPr>
              <a:t>DESIGN AND ANALYSIS OF ALGORITHMS</a:t>
            </a:r>
          </a:p>
          <a:p>
            <a:r>
              <a:rPr lang="en-US" sz="3600" b="1" dirty="0" smtClean="0">
                <a:solidFill>
                  <a:schemeClr val="accent1">
                    <a:lumMod val="75000"/>
                  </a:schemeClr>
                </a:solidFill>
              </a:rPr>
              <a:t>UE19CS251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585D8B7B-5B60-4808-A096-FB24198F96E9}"/>
              </a:ext>
            </a:extLst>
          </p:cNvPr>
          <p:cNvSpPr/>
          <p:nvPr/>
        </p:nvSpPr>
        <p:spPr>
          <a:xfrm>
            <a:off x="4781916" y="4415504"/>
            <a:ext cx="457723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 smtClean="0"/>
              <a:t>Shylaja</a:t>
            </a:r>
            <a:r>
              <a:rPr lang="en-US" sz="2400" b="1" dirty="0" smtClean="0"/>
              <a:t> S </a:t>
            </a:r>
            <a:r>
              <a:rPr lang="en-US" sz="2400" b="1" dirty="0" err="1" smtClean="0"/>
              <a:t>S</a:t>
            </a:r>
            <a:endParaRPr lang="en-IN" sz="2400" b="1" dirty="0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743662B4-0C28-4203-AEB1-4CC1644B8226}"/>
              </a:ext>
            </a:extLst>
          </p:cNvPr>
          <p:cNvSpPr/>
          <p:nvPr/>
        </p:nvSpPr>
        <p:spPr>
          <a:xfrm>
            <a:off x="4781916" y="4810420"/>
            <a:ext cx="459721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Department of </a:t>
            </a:r>
            <a:r>
              <a:rPr lang="en-US" sz="2400" dirty="0" smtClean="0"/>
              <a:t>Computer Science</a:t>
            </a:r>
          </a:p>
          <a:p>
            <a:r>
              <a:rPr lang="en-US" sz="2400" dirty="0" smtClean="0"/>
              <a:t> &amp; </a:t>
            </a:r>
            <a:r>
              <a:rPr lang="en-US" sz="2400" dirty="0"/>
              <a:t>Engineering</a:t>
            </a:r>
            <a:endParaRPr lang="en-IN" sz="2400" dirty="0"/>
          </a:p>
        </p:txBody>
      </p:sp>
      <p:grpSp>
        <p:nvGrpSpPr>
          <p:cNvPr id="20" name="Group 19">
            <a:extLst>
              <a:ext uri="{FF2B5EF4-FFF2-40B4-BE49-F238E27FC236}">
                <a16:creationId xmlns="" xmlns:a16="http://schemas.microsoft.com/office/drawing/2014/main" id="{87008925-27BE-4F37-8F3C-D51A4CE1017D}"/>
              </a:ext>
            </a:extLst>
          </p:cNvPr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24" name="Rectangle 23">
              <a:extLst>
                <a:ext uri="{FF2B5EF4-FFF2-40B4-BE49-F238E27FC236}">
                  <a16:creationId xmlns="" xmlns:a16="http://schemas.microsoft.com/office/drawing/2014/main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="" xmlns:a16="http://schemas.microsoft.com/office/drawing/2014/main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="" xmlns:a16="http://schemas.microsoft.com/office/drawing/2014/main" id="{1EEB87D2-BD33-43D4-B135-6F0E91C4917A}"/>
              </a:ext>
            </a:extLst>
          </p:cNvPr>
          <p:cNvCxnSpPr>
            <a:cxnSpLocks/>
          </p:cNvCxnSpPr>
          <p:nvPr/>
        </p:nvCxnSpPr>
        <p:spPr>
          <a:xfrm flipV="1">
            <a:off x="4781916" y="4112436"/>
            <a:ext cx="4581449" cy="1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close up of a logo&#10;&#10;Description automatically generated">
            <a:extLst>
              <a:ext uri="{FF2B5EF4-FFF2-40B4-BE49-F238E27FC236}">
                <a16:creationId xmlns="" xmlns:a16="http://schemas.microsoft.com/office/drawing/2014/main" id="{66C7B340-EC4A-4D32-8643-325F1D66D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5722" y="1606241"/>
            <a:ext cx="2369218" cy="3550188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87008925-27BE-4F37-8F3C-D51A4CE1017D}"/>
              </a:ext>
            </a:extLst>
          </p:cNvPr>
          <p:cNvGrpSpPr/>
          <p:nvPr/>
        </p:nvGrpSpPr>
        <p:grpSpPr>
          <a:xfrm rot="10800000">
            <a:off x="10855702" y="266068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17" name="Rectangle 16">
              <a:extLst>
                <a:ext uri="{FF2B5EF4-FFF2-40B4-BE49-F238E27FC236}">
                  <a16:creationId xmlns="" xmlns:a16="http://schemas.microsoft.com/office/drawing/2014/main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="" xmlns:a16="http://schemas.microsoft.com/office/drawing/2014/main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="" xmlns:p14="http://schemas.microsoft.com/office/powerpoint/2010/main" val="1300290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5DFE3490-CF8C-4FDE-9D71-2170861F2A61}"/>
              </a:ext>
            </a:extLst>
          </p:cNvPr>
          <p:cNvSpPr/>
          <p:nvPr/>
        </p:nvSpPr>
        <p:spPr>
          <a:xfrm>
            <a:off x="412155" y="1815368"/>
            <a:ext cx="826119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600" b="1" cap="all" dirty="0" smtClean="0"/>
              <a:t>DESIGN AND ANALYSIS OF ALGORITHMS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34CEFAD4-E477-4E46-B5A6-ADB26E6A2863}"/>
              </a:ext>
            </a:extLst>
          </p:cNvPr>
          <p:cNvSpPr/>
          <p:nvPr/>
        </p:nvSpPr>
        <p:spPr>
          <a:xfrm>
            <a:off x="481316" y="2888778"/>
            <a:ext cx="749721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smtClean="0">
                <a:solidFill>
                  <a:schemeClr val="accent1">
                    <a:lumMod val="75000"/>
                  </a:schemeClr>
                </a:solidFill>
              </a:rPr>
              <a:t>Merge Sort</a:t>
            </a:r>
          </a:p>
          <a:p>
            <a:r>
              <a:rPr lang="en-US" sz="2400" dirty="0" smtClean="0"/>
              <a:t>Major Slides Content: </a:t>
            </a:r>
            <a:r>
              <a:rPr lang="en-US" sz="2400" dirty="0" err="1" smtClean="0"/>
              <a:t>Anany</a:t>
            </a:r>
            <a:r>
              <a:rPr lang="en-US" sz="2400" dirty="0" smtClean="0"/>
              <a:t> </a:t>
            </a:r>
            <a:r>
              <a:rPr lang="en-US" sz="2400" dirty="0" err="1" smtClean="0"/>
              <a:t>Levitin</a:t>
            </a:r>
            <a:endParaRPr lang="en-IN" sz="2400" dirty="0" smtClean="0"/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585D8B7B-5B60-4808-A096-FB24198F96E9}"/>
              </a:ext>
            </a:extLst>
          </p:cNvPr>
          <p:cNvSpPr/>
          <p:nvPr/>
        </p:nvSpPr>
        <p:spPr>
          <a:xfrm>
            <a:off x="598883" y="5489699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 smtClean="0"/>
              <a:t>Shylaja</a:t>
            </a:r>
            <a:r>
              <a:rPr lang="en-US" sz="2400" b="1" dirty="0" smtClean="0"/>
              <a:t> S </a:t>
            </a:r>
            <a:r>
              <a:rPr lang="en-US" sz="2400" b="1" dirty="0" err="1" smtClean="0"/>
              <a:t>S</a:t>
            </a:r>
            <a:endParaRPr lang="en-IN" sz="2400" b="1" dirty="0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743662B4-0C28-4203-AEB1-4CC1644B8226}"/>
              </a:ext>
            </a:extLst>
          </p:cNvPr>
          <p:cNvSpPr/>
          <p:nvPr/>
        </p:nvSpPr>
        <p:spPr>
          <a:xfrm>
            <a:off x="598883" y="5887304"/>
            <a:ext cx="749721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Department of </a:t>
            </a:r>
            <a:r>
              <a:rPr lang="en-US" sz="2000" dirty="0" smtClean="0"/>
              <a:t>Computer Science &amp; </a:t>
            </a:r>
            <a:r>
              <a:rPr lang="en-US" sz="2000" dirty="0"/>
              <a:t>Engineering</a:t>
            </a:r>
            <a:endParaRPr lang="en-IN" sz="2000" dirty="0"/>
          </a:p>
        </p:txBody>
      </p:sp>
      <p:grpSp>
        <p:nvGrpSpPr>
          <p:cNvPr id="20" name="Group 19">
            <a:extLst>
              <a:ext uri="{FF2B5EF4-FFF2-40B4-BE49-F238E27FC236}">
                <a16:creationId xmlns="" xmlns:a16="http://schemas.microsoft.com/office/drawing/2014/main" id="{87008925-27BE-4F37-8F3C-D51A4CE1017D}"/>
              </a:ext>
            </a:extLst>
          </p:cNvPr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24" name="Rectangle 23">
              <a:extLst>
                <a:ext uri="{FF2B5EF4-FFF2-40B4-BE49-F238E27FC236}">
                  <a16:creationId xmlns="" xmlns:a16="http://schemas.microsoft.com/office/drawing/2014/main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="" xmlns:a16="http://schemas.microsoft.com/office/drawing/2014/main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="" xmlns:a16="http://schemas.microsoft.com/office/drawing/2014/main" id="{DD6B6443-C2DA-47C3-A986-5EE935046CC9}"/>
              </a:ext>
            </a:extLst>
          </p:cNvPr>
          <p:cNvCxnSpPr>
            <a:cxnSpLocks/>
          </p:cNvCxnSpPr>
          <p:nvPr/>
        </p:nvCxnSpPr>
        <p:spPr>
          <a:xfrm flipV="1">
            <a:off x="0" y="2664823"/>
            <a:ext cx="8399417" cy="538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="" xmlns:a16="http://schemas.microsoft.com/office/drawing/2014/main" id="{6727F4C1-5802-414C-BEF9-8F8DC7D7B6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821512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547394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Merge Sort - Idea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016009"/>
            <a:ext cx="8642857" cy="2894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=""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="" xmlns:a16="http://schemas.microsoft.com/office/drawing/2014/main" id="{4F3FB185-DBF7-4A22-BB42-211E8BAD4C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3" y="1258960"/>
            <a:ext cx="7938050" cy="45794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14000"/>
              </a:lnSpc>
            </a:pPr>
            <a:endParaRPr lang="en-US" sz="24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algn="just">
              <a:lnSpc>
                <a:spcPct val="114000"/>
              </a:lnSpc>
            </a:pPr>
            <a:endParaRPr lang="en-IN" sz="24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algn="just">
              <a:lnSpc>
                <a:spcPct val="114000"/>
              </a:lnSpc>
            </a:pPr>
            <a:endParaRPr lang="en-IN" sz="24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230400" indent="-230400" algn="just">
              <a:lnSpc>
                <a:spcPct val="114000"/>
              </a:lnSpc>
            </a:pPr>
            <a:endParaRPr lang="en-US" sz="24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230400" indent="-230400" algn="just">
              <a:lnSpc>
                <a:spcPct val="114000"/>
              </a:lnSpc>
              <a:buFont typeface="Arial" pitchFamily="34" charset="0"/>
              <a:buChar char="•"/>
            </a:pPr>
            <a:endParaRPr lang="en-US" sz="24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230400" indent="-230400" algn="just">
              <a:lnSpc>
                <a:spcPct val="114000"/>
              </a:lnSpc>
            </a:pPr>
            <a:endParaRPr lang="en-US" sz="24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230400" indent="-230400" algn="just">
              <a:lnSpc>
                <a:spcPct val="114000"/>
              </a:lnSpc>
              <a:buFont typeface="Arial" pitchFamily="34" charset="0"/>
              <a:buChar char="•"/>
            </a:pPr>
            <a:endParaRPr lang="en-US" sz="24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230400" indent="-230400" algn="just">
              <a:lnSpc>
                <a:spcPct val="114000"/>
              </a:lnSpc>
              <a:buFont typeface="Arial" pitchFamily="34" charset="0"/>
              <a:buChar char="•"/>
            </a:pPr>
            <a:endParaRPr lang="en-US" sz="24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230400" indent="-230400" algn="just">
              <a:lnSpc>
                <a:spcPct val="114000"/>
              </a:lnSpc>
              <a:buFont typeface="Arial" pitchFamily="34" charset="0"/>
              <a:buChar char="•"/>
            </a:pPr>
            <a:endParaRPr lang="en-US" sz="24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230400" indent="-230400" algn="just">
              <a:lnSpc>
                <a:spcPct val="114000"/>
              </a:lnSpc>
            </a:pPr>
            <a:endParaRPr lang="en-IN" sz="24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endParaRPr lang="en-US" sz="2400" dirty="0" smtClean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147736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64770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64770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035" name="Rectangle 11"/>
          <p:cNvSpPr>
            <a:spLocks noChangeArrowheads="1"/>
          </p:cNvSpPr>
          <p:nvPr/>
        </p:nvSpPr>
        <p:spPr bwMode="auto">
          <a:xfrm>
            <a:off x="0" y="64770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37" name="Rectangle 1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038" name="Rectangle 14"/>
          <p:cNvSpPr>
            <a:spLocks noChangeArrowheads="1"/>
          </p:cNvSpPr>
          <p:nvPr/>
        </p:nvSpPr>
        <p:spPr bwMode="auto">
          <a:xfrm>
            <a:off x="0" y="64770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041" name="Rectangle 17"/>
          <p:cNvSpPr>
            <a:spLocks noChangeArrowheads="1"/>
          </p:cNvSpPr>
          <p:nvPr/>
        </p:nvSpPr>
        <p:spPr bwMode="auto">
          <a:xfrm>
            <a:off x="0" y="64770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43" name="Rectangle 19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045" name="Rectangle 2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047" name="Rectangle 23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049" name="Rectangle 2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051" name="Rectangle 27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052" name="Rectangle 28"/>
          <p:cNvSpPr>
            <a:spLocks noChangeArrowheads="1"/>
          </p:cNvSpPr>
          <p:nvPr/>
        </p:nvSpPr>
        <p:spPr bwMode="auto">
          <a:xfrm>
            <a:off x="0" y="64770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54" name="Rectangle 30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055" name="Rectangle 31"/>
          <p:cNvSpPr>
            <a:spLocks noChangeArrowheads="1"/>
          </p:cNvSpPr>
          <p:nvPr/>
        </p:nvSpPr>
        <p:spPr bwMode="auto">
          <a:xfrm>
            <a:off x="0" y="80010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61" name="Rectangle 37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062" name="Rectangle 38"/>
          <p:cNvSpPr>
            <a:spLocks noChangeArrowheads="1"/>
          </p:cNvSpPr>
          <p:nvPr/>
        </p:nvSpPr>
        <p:spPr bwMode="auto">
          <a:xfrm>
            <a:off x="0" y="80010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22531" name="Rectangle 3"/>
          <p:cNvSpPr>
            <a:spLocks noChangeArrowheads="1"/>
          </p:cNvSpPr>
          <p:nvPr/>
        </p:nvSpPr>
        <p:spPr bwMode="auto">
          <a:xfrm>
            <a:off x="0" y="68580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22534" name="Rectangle 6"/>
          <p:cNvSpPr>
            <a:spLocks noChangeArrowheads="1"/>
          </p:cNvSpPr>
          <p:nvPr/>
        </p:nvSpPr>
        <p:spPr bwMode="auto">
          <a:xfrm>
            <a:off x="0" y="1076325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536" name="Rectangle 8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22537" name="Rectangle 9"/>
          <p:cNvSpPr>
            <a:spLocks noChangeArrowheads="1"/>
          </p:cNvSpPr>
          <p:nvPr/>
        </p:nvSpPr>
        <p:spPr bwMode="auto">
          <a:xfrm>
            <a:off x="0" y="847725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539" name="Rectangle 1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25602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25603" name="Rectangle 3"/>
          <p:cNvSpPr>
            <a:spLocks noChangeArrowheads="1"/>
          </p:cNvSpPr>
          <p:nvPr/>
        </p:nvSpPr>
        <p:spPr bwMode="auto">
          <a:xfrm>
            <a:off x="0" y="83820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5605" name="Rectangle 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25606" name="Rectangle 6"/>
          <p:cNvSpPr>
            <a:spLocks noChangeArrowheads="1"/>
          </p:cNvSpPr>
          <p:nvPr/>
        </p:nvSpPr>
        <p:spPr bwMode="auto">
          <a:xfrm>
            <a:off x="0" y="91440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391886" y="1203986"/>
            <a:ext cx="8255725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6800" indent="-226800" algn="just">
              <a:buFont typeface="Arial" pitchFamily="34" charset="0"/>
              <a:buChar char="•"/>
            </a:pPr>
            <a:r>
              <a:rPr lang="en-IN" sz="2400" dirty="0" smtClean="0">
                <a:solidFill>
                  <a:schemeClr val="accent1">
                    <a:lumMod val="75000"/>
                  </a:schemeClr>
                </a:solidFill>
              </a:rPr>
              <a:t>Split array A[0..n-1] into about equal halves and make copies of each half in arrays B and C</a:t>
            </a:r>
          </a:p>
          <a:p>
            <a:pPr marL="226800" indent="-226800" algn="just">
              <a:buFont typeface="Arial" pitchFamily="34" charset="0"/>
              <a:buChar char="•"/>
            </a:pPr>
            <a:r>
              <a:rPr lang="en-IN" sz="2400" dirty="0" smtClean="0">
                <a:solidFill>
                  <a:schemeClr val="accent1">
                    <a:lumMod val="75000"/>
                  </a:schemeClr>
                </a:solidFill>
              </a:rPr>
              <a:t>Sort arrays B and C recursively</a:t>
            </a:r>
          </a:p>
          <a:p>
            <a:pPr marL="226800" indent="-226800" algn="just">
              <a:buFont typeface="Arial" pitchFamily="34" charset="0"/>
              <a:buChar char="•"/>
            </a:pPr>
            <a:r>
              <a:rPr lang="en-IN" sz="2400" dirty="0" smtClean="0">
                <a:solidFill>
                  <a:schemeClr val="accent1">
                    <a:lumMod val="75000"/>
                  </a:schemeClr>
                </a:solidFill>
              </a:rPr>
              <a:t>Merge sorted arrays B and C into array A as follows:</a:t>
            </a:r>
          </a:p>
          <a:p>
            <a:pPr marL="684000" lvl="1" indent="-226800" algn="just">
              <a:buFont typeface="Arial" pitchFamily="34" charset="0"/>
              <a:buChar char="•"/>
            </a:pPr>
            <a:r>
              <a:rPr lang="en-IN" sz="2400" dirty="0" smtClean="0">
                <a:solidFill>
                  <a:schemeClr val="accent1">
                    <a:lumMod val="75000"/>
                  </a:schemeClr>
                </a:solidFill>
              </a:rPr>
              <a:t>Repeat the following until no elements remain in one of the arrays:</a:t>
            </a:r>
          </a:p>
          <a:p>
            <a:pPr marL="1141200" lvl="2" indent="-226800" algn="just">
              <a:buFont typeface="Arial" pitchFamily="34" charset="0"/>
              <a:buChar char="•"/>
            </a:pPr>
            <a:r>
              <a:rPr lang="en-IN" sz="2400" dirty="0" smtClean="0">
                <a:solidFill>
                  <a:schemeClr val="accent1">
                    <a:lumMod val="75000"/>
                  </a:schemeClr>
                </a:solidFill>
              </a:rPr>
              <a:t>compare the first elements in the remaining unprocessed portions of the arrays</a:t>
            </a:r>
          </a:p>
          <a:p>
            <a:pPr marL="1141200" lvl="2" indent="-226800" algn="just">
              <a:buFont typeface="Arial" pitchFamily="34" charset="0"/>
              <a:buChar char="•"/>
            </a:pPr>
            <a:r>
              <a:rPr lang="en-IN" sz="2400" dirty="0" smtClean="0">
                <a:solidFill>
                  <a:schemeClr val="accent1">
                    <a:lumMod val="75000"/>
                  </a:schemeClr>
                </a:solidFill>
              </a:rPr>
              <a:t>copy the smaller of the two into A, while incrementing the index indicating the unprocessed portion of that array </a:t>
            </a:r>
          </a:p>
          <a:p>
            <a:pPr marL="684000" lvl="1" indent="-226800" algn="just">
              <a:buFont typeface="Arial" pitchFamily="34" charset="0"/>
              <a:buChar char="•"/>
            </a:pPr>
            <a:r>
              <a:rPr lang="en-IN" sz="2400" dirty="0" smtClean="0">
                <a:solidFill>
                  <a:schemeClr val="accent1">
                    <a:lumMod val="75000"/>
                  </a:schemeClr>
                </a:solidFill>
              </a:rPr>
              <a:t>Once all elements in one of the arrays are processed, copy the remaining unprocessed elements from the other array into A</a:t>
            </a:r>
            <a:endParaRPr lang="en-IN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665001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547394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Merge Sort - Algorithm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016009"/>
            <a:ext cx="8642857" cy="2894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=""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="" xmlns:a16="http://schemas.microsoft.com/office/drawing/2014/main" id="{4F3FB185-DBF7-4A22-BB42-211E8BAD4C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3" y="1258960"/>
            <a:ext cx="7938050" cy="45794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14000"/>
              </a:lnSpc>
            </a:pPr>
            <a:endParaRPr lang="en-US" sz="24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algn="just">
              <a:lnSpc>
                <a:spcPct val="114000"/>
              </a:lnSpc>
            </a:pPr>
            <a:endParaRPr lang="en-IN" sz="24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algn="just">
              <a:lnSpc>
                <a:spcPct val="114000"/>
              </a:lnSpc>
            </a:pPr>
            <a:endParaRPr lang="en-IN" sz="24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230400" indent="-230400" algn="just">
              <a:lnSpc>
                <a:spcPct val="114000"/>
              </a:lnSpc>
            </a:pPr>
            <a:endParaRPr lang="en-US" sz="24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230400" indent="-230400" algn="just">
              <a:lnSpc>
                <a:spcPct val="114000"/>
              </a:lnSpc>
              <a:buFont typeface="Arial" pitchFamily="34" charset="0"/>
              <a:buChar char="•"/>
            </a:pPr>
            <a:endParaRPr lang="en-US" sz="24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230400" indent="-230400" algn="just">
              <a:lnSpc>
                <a:spcPct val="114000"/>
              </a:lnSpc>
            </a:pPr>
            <a:endParaRPr lang="en-US" sz="24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230400" indent="-230400" algn="just">
              <a:lnSpc>
                <a:spcPct val="114000"/>
              </a:lnSpc>
              <a:buFont typeface="Arial" pitchFamily="34" charset="0"/>
              <a:buChar char="•"/>
            </a:pPr>
            <a:endParaRPr lang="en-US" sz="24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230400" indent="-230400" algn="just">
              <a:lnSpc>
                <a:spcPct val="114000"/>
              </a:lnSpc>
              <a:buFont typeface="Arial" pitchFamily="34" charset="0"/>
              <a:buChar char="•"/>
            </a:pPr>
            <a:endParaRPr lang="en-US" sz="24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230400" indent="-230400" algn="just">
              <a:lnSpc>
                <a:spcPct val="114000"/>
              </a:lnSpc>
              <a:buFont typeface="Arial" pitchFamily="34" charset="0"/>
              <a:buChar char="•"/>
            </a:pPr>
            <a:endParaRPr lang="en-US" sz="24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230400" indent="-230400" algn="just">
              <a:lnSpc>
                <a:spcPct val="114000"/>
              </a:lnSpc>
            </a:pPr>
            <a:endParaRPr lang="en-IN" sz="24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endParaRPr lang="en-US" sz="2400" dirty="0" smtClean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147736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64770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64770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035" name="Rectangle 11"/>
          <p:cNvSpPr>
            <a:spLocks noChangeArrowheads="1"/>
          </p:cNvSpPr>
          <p:nvPr/>
        </p:nvSpPr>
        <p:spPr bwMode="auto">
          <a:xfrm>
            <a:off x="0" y="64770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37" name="Rectangle 1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038" name="Rectangle 14"/>
          <p:cNvSpPr>
            <a:spLocks noChangeArrowheads="1"/>
          </p:cNvSpPr>
          <p:nvPr/>
        </p:nvSpPr>
        <p:spPr bwMode="auto">
          <a:xfrm>
            <a:off x="0" y="64770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041" name="Rectangle 17"/>
          <p:cNvSpPr>
            <a:spLocks noChangeArrowheads="1"/>
          </p:cNvSpPr>
          <p:nvPr/>
        </p:nvSpPr>
        <p:spPr bwMode="auto">
          <a:xfrm>
            <a:off x="0" y="64770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43" name="Rectangle 19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045" name="Rectangle 2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047" name="Rectangle 23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049" name="Rectangle 2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051" name="Rectangle 27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052" name="Rectangle 28"/>
          <p:cNvSpPr>
            <a:spLocks noChangeArrowheads="1"/>
          </p:cNvSpPr>
          <p:nvPr/>
        </p:nvSpPr>
        <p:spPr bwMode="auto">
          <a:xfrm>
            <a:off x="0" y="64770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54" name="Rectangle 30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055" name="Rectangle 31"/>
          <p:cNvSpPr>
            <a:spLocks noChangeArrowheads="1"/>
          </p:cNvSpPr>
          <p:nvPr/>
        </p:nvSpPr>
        <p:spPr bwMode="auto">
          <a:xfrm>
            <a:off x="0" y="80010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61" name="Rectangle 37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062" name="Rectangle 38"/>
          <p:cNvSpPr>
            <a:spLocks noChangeArrowheads="1"/>
          </p:cNvSpPr>
          <p:nvPr/>
        </p:nvSpPr>
        <p:spPr bwMode="auto">
          <a:xfrm>
            <a:off x="0" y="80010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22531" name="Rectangle 3"/>
          <p:cNvSpPr>
            <a:spLocks noChangeArrowheads="1"/>
          </p:cNvSpPr>
          <p:nvPr/>
        </p:nvSpPr>
        <p:spPr bwMode="auto">
          <a:xfrm>
            <a:off x="0" y="68580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22534" name="Rectangle 6"/>
          <p:cNvSpPr>
            <a:spLocks noChangeArrowheads="1"/>
          </p:cNvSpPr>
          <p:nvPr/>
        </p:nvSpPr>
        <p:spPr bwMode="auto">
          <a:xfrm>
            <a:off x="0" y="1076325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536" name="Rectangle 8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22537" name="Rectangle 9"/>
          <p:cNvSpPr>
            <a:spLocks noChangeArrowheads="1"/>
          </p:cNvSpPr>
          <p:nvPr/>
        </p:nvSpPr>
        <p:spPr bwMode="auto">
          <a:xfrm>
            <a:off x="0" y="847725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539" name="Rectangle 1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25602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25603" name="Rectangle 3"/>
          <p:cNvSpPr>
            <a:spLocks noChangeArrowheads="1"/>
          </p:cNvSpPr>
          <p:nvPr/>
        </p:nvSpPr>
        <p:spPr bwMode="auto">
          <a:xfrm>
            <a:off x="0" y="83820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5605" name="Rectangle 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25606" name="Rectangle 6"/>
          <p:cNvSpPr>
            <a:spLocks noChangeArrowheads="1"/>
          </p:cNvSpPr>
          <p:nvPr/>
        </p:nvSpPr>
        <p:spPr bwMode="auto">
          <a:xfrm>
            <a:off x="0" y="91440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391886" y="1203986"/>
            <a:ext cx="8255725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6800" indent="-226800" algn="just"/>
            <a:r>
              <a:rPr lang="en-IN" sz="2400" dirty="0" smtClean="0">
                <a:solidFill>
                  <a:schemeClr val="accent1">
                    <a:lumMod val="75000"/>
                  </a:schemeClr>
                </a:solidFill>
              </a:rPr>
              <a:t>ALGORITHM  </a:t>
            </a:r>
            <a:r>
              <a:rPr lang="en-IN" sz="2400" dirty="0" err="1" smtClean="0">
                <a:solidFill>
                  <a:schemeClr val="accent1">
                    <a:lumMod val="75000"/>
                  </a:schemeClr>
                </a:solidFill>
              </a:rPr>
              <a:t>Mergesort</a:t>
            </a:r>
            <a:r>
              <a:rPr lang="en-IN" sz="2400" dirty="0" smtClean="0">
                <a:solidFill>
                  <a:schemeClr val="accent1">
                    <a:lumMod val="75000"/>
                  </a:schemeClr>
                </a:solidFill>
              </a:rPr>
              <a:t>(A[0 .. n-1]) </a:t>
            </a:r>
          </a:p>
          <a:p>
            <a:pPr marL="226800" indent="-226800" algn="just"/>
            <a:r>
              <a:rPr lang="en-IN" sz="2400" dirty="0" smtClean="0">
                <a:solidFill>
                  <a:schemeClr val="accent1">
                    <a:lumMod val="75000"/>
                  </a:schemeClr>
                </a:solidFill>
              </a:rPr>
              <a:t>//Sorts array A[0 .. n-1] by recursive </a:t>
            </a:r>
            <a:r>
              <a:rPr lang="en-IN" sz="2400" dirty="0" err="1" smtClean="0">
                <a:solidFill>
                  <a:schemeClr val="accent1">
                    <a:lumMod val="75000"/>
                  </a:schemeClr>
                </a:solidFill>
              </a:rPr>
              <a:t>mergesort</a:t>
            </a:r>
            <a:r>
              <a:rPr lang="en-IN" sz="24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marL="226800" indent="-226800" algn="just"/>
            <a:r>
              <a:rPr lang="en-IN" sz="2400" dirty="0" smtClean="0">
                <a:solidFill>
                  <a:schemeClr val="accent1">
                    <a:lumMod val="75000"/>
                  </a:schemeClr>
                </a:solidFill>
              </a:rPr>
              <a:t>//Input:  An array A[0 .. n-1]  of orderable elements </a:t>
            </a:r>
          </a:p>
          <a:p>
            <a:pPr marL="226800" indent="-226800" algn="just"/>
            <a:r>
              <a:rPr lang="en-IN" sz="2400" dirty="0" smtClean="0">
                <a:solidFill>
                  <a:schemeClr val="accent1">
                    <a:lumMod val="75000"/>
                  </a:schemeClr>
                </a:solidFill>
              </a:rPr>
              <a:t>//Output: Array A[0 .. n-1] sorted in non decreasing order </a:t>
            </a:r>
          </a:p>
          <a:p>
            <a:pPr marL="226800" indent="-226800" algn="just"/>
            <a:r>
              <a:rPr lang="en-IN" sz="2400" dirty="0" smtClean="0">
                <a:solidFill>
                  <a:schemeClr val="accent1">
                    <a:lumMod val="75000"/>
                  </a:schemeClr>
                </a:solidFill>
              </a:rPr>
              <a:t>if n &gt;  1 </a:t>
            </a:r>
          </a:p>
          <a:p>
            <a:pPr marL="226800" indent="-226800" algn="just"/>
            <a:r>
              <a:rPr lang="en-IN" sz="2400" dirty="0" smtClean="0">
                <a:solidFill>
                  <a:schemeClr val="accent1">
                    <a:lumMod val="75000"/>
                  </a:schemeClr>
                </a:solidFill>
              </a:rPr>
              <a:t>	copy A[0 ..         -1 ] to B[0 ..         -1] </a:t>
            </a:r>
          </a:p>
          <a:p>
            <a:pPr marL="226800" indent="-226800" algn="just"/>
            <a:r>
              <a:rPr lang="en-IN" sz="2400" dirty="0" smtClean="0">
                <a:solidFill>
                  <a:schemeClr val="accent1">
                    <a:lumMod val="75000"/>
                  </a:schemeClr>
                </a:solidFill>
              </a:rPr>
              <a:t>	copy A[         .. n -1 ] to C[0..       -1] </a:t>
            </a:r>
          </a:p>
          <a:p>
            <a:pPr marL="226800" indent="-226800" algn="just"/>
            <a:r>
              <a:rPr lang="en-IN" sz="2400" dirty="0" smtClean="0">
                <a:solidFill>
                  <a:schemeClr val="accent1">
                    <a:lumMod val="75000"/>
                  </a:schemeClr>
                </a:solidFill>
              </a:rPr>
              <a:t>	</a:t>
            </a:r>
            <a:r>
              <a:rPr lang="en-IN" sz="2400" dirty="0" err="1" smtClean="0">
                <a:solidFill>
                  <a:schemeClr val="accent1">
                    <a:lumMod val="75000"/>
                  </a:schemeClr>
                </a:solidFill>
              </a:rPr>
              <a:t>Mergesort</a:t>
            </a:r>
            <a:r>
              <a:rPr lang="en-IN" sz="2400" dirty="0" smtClean="0">
                <a:solidFill>
                  <a:schemeClr val="accent1">
                    <a:lumMod val="75000"/>
                  </a:schemeClr>
                </a:solidFill>
              </a:rPr>
              <a:t>(B[0 ..        - 1]) </a:t>
            </a:r>
          </a:p>
          <a:p>
            <a:pPr marL="226800" indent="-226800" algn="just"/>
            <a:r>
              <a:rPr lang="en-IN" sz="2400" dirty="0" smtClean="0">
                <a:solidFill>
                  <a:schemeClr val="accent1">
                    <a:lumMod val="75000"/>
                  </a:schemeClr>
                </a:solidFill>
              </a:rPr>
              <a:t>	</a:t>
            </a:r>
            <a:r>
              <a:rPr lang="en-IN" sz="2400" dirty="0" err="1" smtClean="0">
                <a:solidFill>
                  <a:schemeClr val="accent1">
                    <a:lumMod val="75000"/>
                  </a:schemeClr>
                </a:solidFill>
              </a:rPr>
              <a:t>Mergesort</a:t>
            </a:r>
            <a:r>
              <a:rPr lang="en-IN" sz="2400" dirty="0" smtClean="0">
                <a:solidFill>
                  <a:schemeClr val="accent1">
                    <a:lumMod val="75000"/>
                  </a:schemeClr>
                </a:solidFill>
              </a:rPr>
              <a:t>(C[0 ..       -1]) </a:t>
            </a:r>
          </a:p>
          <a:p>
            <a:pPr marL="226800" indent="-226800" algn="just"/>
            <a:r>
              <a:rPr lang="en-IN" sz="2400" dirty="0" smtClean="0">
                <a:solidFill>
                  <a:schemeClr val="accent1">
                    <a:lumMod val="75000"/>
                  </a:schemeClr>
                </a:solidFill>
              </a:rPr>
              <a:t>	Merge(B,  C,  A) </a:t>
            </a:r>
            <a:endParaRPr lang="en-IN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6626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26627" name="Rectangle 3"/>
          <p:cNvSpPr>
            <a:spLocks noChangeArrowheads="1"/>
          </p:cNvSpPr>
          <p:nvPr/>
        </p:nvSpPr>
        <p:spPr bwMode="auto">
          <a:xfrm>
            <a:off x="0" y="108585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6629" name="Rectangle 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26630" name="Rectangle 6"/>
          <p:cNvSpPr>
            <a:spLocks noChangeArrowheads="1"/>
          </p:cNvSpPr>
          <p:nvPr/>
        </p:nvSpPr>
        <p:spPr bwMode="auto">
          <a:xfrm>
            <a:off x="0" y="108585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6632" name="Rectangle 8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26631" name="Picture 7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063934" y="3148149"/>
            <a:ext cx="419100" cy="311875"/>
          </a:xfrm>
          <a:prstGeom prst="rect">
            <a:avLst/>
          </a:prstGeom>
          <a:noFill/>
        </p:spPr>
      </p:pic>
      <p:sp>
        <p:nvSpPr>
          <p:cNvPr id="26633" name="Rectangle 9"/>
          <p:cNvSpPr>
            <a:spLocks noChangeArrowheads="1"/>
          </p:cNvSpPr>
          <p:nvPr/>
        </p:nvSpPr>
        <p:spPr bwMode="auto">
          <a:xfrm>
            <a:off x="0" y="74295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52" name="Picture 7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123512" y="3117669"/>
            <a:ext cx="419100" cy="311875"/>
          </a:xfrm>
          <a:prstGeom prst="rect">
            <a:avLst/>
          </a:prstGeom>
          <a:noFill/>
        </p:spPr>
      </p:pic>
      <p:pic>
        <p:nvPicPr>
          <p:cNvPr id="53" name="Picture 7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680758" y="3509554"/>
            <a:ext cx="419100" cy="311875"/>
          </a:xfrm>
          <a:prstGeom prst="rect">
            <a:avLst/>
          </a:prstGeom>
          <a:noFill/>
        </p:spPr>
      </p:pic>
      <p:sp>
        <p:nvSpPr>
          <p:cNvPr id="26635" name="Rectangle 11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26634" name="Picture 10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075614" y="3526972"/>
            <a:ext cx="419100" cy="285750"/>
          </a:xfrm>
          <a:prstGeom prst="rect">
            <a:avLst/>
          </a:prstGeom>
          <a:noFill/>
        </p:spPr>
      </p:pic>
      <p:sp>
        <p:nvSpPr>
          <p:cNvPr id="26636" name="Rectangle 12"/>
          <p:cNvSpPr>
            <a:spLocks noChangeArrowheads="1"/>
          </p:cNvSpPr>
          <p:nvPr/>
        </p:nvSpPr>
        <p:spPr bwMode="auto">
          <a:xfrm>
            <a:off x="0" y="74295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57" name="Picture 7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791100" y="3875315"/>
            <a:ext cx="419100" cy="311875"/>
          </a:xfrm>
          <a:prstGeom prst="rect">
            <a:avLst/>
          </a:prstGeom>
          <a:noFill/>
        </p:spPr>
      </p:pic>
      <p:pic>
        <p:nvPicPr>
          <p:cNvPr id="59" name="Picture 10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751911" y="4267201"/>
            <a:ext cx="419100" cy="2857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665001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26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500"/>
                                        <p:tgtEl>
                                          <p:spTgt spid="26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4" dur="500"/>
                                        <p:tgtEl>
                                          <p:spTgt spid="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500"/>
                                        <p:tgtEl>
                                          <p:spTgt spid="4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0" dur="500"/>
                                        <p:tgtEl>
                                          <p:spTgt spid="4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547394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Merge Sort - Algorithm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016009"/>
            <a:ext cx="8642857" cy="2894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=""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="" xmlns:a16="http://schemas.microsoft.com/office/drawing/2014/main" id="{4F3FB185-DBF7-4A22-BB42-211E8BAD4C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3" y="1258960"/>
            <a:ext cx="7938050" cy="45794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14000"/>
              </a:lnSpc>
            </a:pPr>
            <a:endParaRPr lang="en-US" sz="24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algn="just">
              <a:lnSpc>
                <a:spcPct val="114000"/>
              </a:lnSpc>
            </a:pPr>
            <a:endParaRPr lang="en-IN" sz="24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algn="just">
              <a:lnSpc>
                <a:spcPct val="114000"/>
              </a:lnSpc>
            </a:pPr>
            <a:endParaRPr lang="en-IN" sz="24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230400" indent="-230400" algn="just">
              <a:lnSpc>
                <a:spcPct val="114000"/>
              </a:lnSpc>
            </a:pPr>
            <a:endParaRPr lang="en-US" sz="24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230400" indent="-230400" algn="just">
              <a:lnSpc>
                <a:spcPct val="114000"/>
              </a:lnSpc>
              <a:buFont typeface="Arial" pitchFamily="34" charset="0"/>
              <a:buChar char="•"/>
            </a:pPr>
            <a:endParaRPr lang="en-US" sz="24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230400" indent="-230400" algn="just">
              <a:lnSpc>
                <a:spcPct val="114000"/>
              </a:lnSpc>
            </a:pPr>
            <a:endParaRPr lang="en-US" sz="24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230400" indent="-230400" algn="just">
              <a:lnSpc>
                <a:spcPct val="114000"/>
              </a:lnSpc>
              <a:buFont typeface="Arial" pitchFamily="34" charset="0"/>
              <a:buChar char="•"/>
            </a:pPr>
            <a:endParaRPr lang="en-US" sz="24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230400" indent="-230400" algn="just">
              <a:lnSpc>
                <a:spcPct val="114000"/>
              </a:lnSpc>
              <a:buFont typeface="Arial" pitchFamily="34" charset="0"/>
              <a:buChar char="•"/>
            </a:pPr>
            <a:endParaRPr lang="en-US" sz="24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230400" indent="-230400" algn="just">
              <a:lnSpc>
                <a:spcPct val="114000"/>
              </a:lnSpc>
              <a:buFont typeface="Arial" pitchFamily="34" charset="0"/>
              <a:buChar char="•"/>
            </a:pPr>
            <a:endParaRPr lang="en-US" sz="24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230400" indent="-230400" algn="just">
              <a:lnSpc>
                <a:spcPct val="114000"/>
              </a:lnSpc>
            </a:pPr>
            <a:endParaRPr lang="en-IN" sz="24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endParaRPr lang="en-US" sz="2400" dirty="0" smtClean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147736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64770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64770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035" name="Rectangle 11"/>
          <p:cNvSpPr>
            <a:spLocks noChangeArrowheads="1"/>
          </p:cNvSpPr>
          <p:nvPr/>
        </p:nvSpPr>
        <p:spPr bwMode="auto">
          <a:xfrm>
            <a:off x="0" y="64770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37" name="Rectangle 1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038" name="Rectangle 14"/>
          <p:cNvSpPr>
            <a:spLocks noChangeArrowheads="1"/>
          </p:cNvSpPr>
          <p:nvPr/>
        </p:nvSpPr>
        <p:spPr bwMode="auto">
          <a:xfrm>
            <a:off x="0" y="64770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041" name="Rectangle 17"/>
          <p:cNvSpPr>
            <a:spLocks noChangeArrowheads="1"/>
          </p:cNvSpPr>
          <p:nvPr/>
        </p:nvSpPr>
        <p:spPr bwMode="auto">
          <a:xfrm>
            <a:off x="0" y="64770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43" name="Rectangle 19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045" name="Rectangle 2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047" name="Rectangle 23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049" name="Rectangle 2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051" name="Rectangle 27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052" name="Rectangle 28"/>
          <p:cNvSpPr>
            <a:spLocks noChangeArrowheads="1"/>
          </p:cNvSpPr>
          <p:nvPr/>
        </p:nvSpPr>
        <p:spPr bwMode="auto">
          <a:xfrm>
            <a:off x="0" y="64770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54" name="Rectangle 30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055" name="Rectangle 31"/>
          <p:cNvSpPr>
            <a:spLocks noChangeArrowheads="1"/>
          </p:cNvSpPr>
          <p:nvPr/>
        </p:nvSpPr>
        <p:spPr bwMode="auto">
          <a:xfrm>
            <a:off x="0" y="80010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61" name="Rectangle 37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062" name="Rectangle 38"/>
          <p:cNvSpPr>
            <a:spLocks noChangeArrowheads="1"/>
          </p:cNvSpPr>
          <p:nvPr/>
        </p:nvSpPr>
        <p:spPr bwMode="auto">
          <a:xfrm>
            <a:off x="0" y="80010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22531" name="Rectangle 3"/>
          <p:cNvSpPr>
            <a:spLocks noChangeArrowheads="1"/>
          </p:cNvSpPr>
          <p:nvPr/>
        </p:nvSpPr>
        <p:spPr bwMode="auto">
          <a:xfrm>
            <a:off x="0" y="68580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22534" name="Rectangle 6"/>
          <p:cNvSpPr>
            <a:spLocks noChangeArrowheads="1"/>
          </p:cNvSpPr>
          <p:nvPr/>
        </p:nvSpPr>
        <p:spPr bwMode="auto">
          <a:xfrm>
            <a:off x="0" y="1076325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536" name="Rectangle 8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22537" name="Rectangle 9"/>
          <p:cNvSpPr>
            <a:spLocks noChangeArrowheads="1"/>
          </p:cNvSpPr>
          <p:nvPr/>
        </p:nvSpPr>
        <p:spPr bwMode="auto">
          <a:xfrm>
            <a:off x="0" y="847725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539" name="Rectangle 1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25602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25603" name="Rectangle 3"/>
          <p:cNvSpPr>
            <a:spLocks noChangeArrowheads="1"/>
          </p:cNvSpPr>
          <p:nvPr/>
        </p:nvSpPr>
        <p:spPr bwMode="auto">
          <a:xfrm>
            <a:off x="0" y="83820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5605" name="Rectangle 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25606" name="Rectangle 6"/>
          <p:cNvSpPr>
            <a:spLocks noChangeArrowheads="1"/>
          </p:cNvSpPr>
          <p:nvPr/>
        </p:nvSpPr>
        <p:spPr bwMode="auto">
          <a:xfrm>
            <a:off x="0" y="91440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391886" y="1203986"/>
            <a:ext cx="8255725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6800" indent="-226800" algn="just"/>
            <a:r>
              <a:rPr lang="en-IN" sz="2400" dirty="0" smtClean="0">
                <a:solidFill>
                  <a:schemeClr val="accent1">
                    <a:lumMod val="75000"/>
                  </a:schemeClr>
                </a:solidFill>
              </a:rPr>
              <a:t>ALGORITHM  Merge(B[0 .. p- 1],  C[0 .. q  -1], A[0 .. p  + q  -1]) </a:t>
            </a:r>
          </a:p>
          <a:p>
            <a:pPr marL="226800" indent="-226800" algn="just"/>
            <a:r>
              <a:rPr lang="en-IN" sz="2400" dirty="0" smtClean="0">
                <a:solidFill>
                  <a:schemeClr val="accent1">
                    <a:lumMod val="75000"/>
                  </a:schemeClr>
                </a:solidFill>
              </a:rPr>
              <a:t>//Merges two sorted arrays into one sorted array </a:t>
            </a:r>
          </a:p>
          <a:p>
            <a:pPr marL="226800" indent="-226800" algn="just"/>
            <a:r>
              <a:rPr lang="en-IN" sz="2400" dirty="0" smtClean="0">
                <a:solidFill>
                  <a:schemeClr val="accent1">
                    <a:lumMod val="75000"/>
                  </a:schemeClr>
                </a:solidFill>
              </a:rPr>
              <a:t>//Input: Arrays B[0 .. p -1] and C[0 .. q -1] both sorted </a:t>
            </a:r>
          </a:p>
          <a:p>
            <a:pPr marL="226800" indent="-226800" algn="just"/>
            <a:r>
              <a:rPr lang="en-IN" sz="2400" dirty="0" smtClean="0">
                <a:solidFill>
                  <a:schemeClr val="accent1">
                    <a:lumMod val="75000"/>
                  </a:schemeClr>
                </a:solidFill>
              </a:rPr>
              <a:t>//Output: Sorted array A[0 .. p  + q  -1] of the elements of B and C </a:t>
            </a:r>
          </a:p>
          <a:p>
            <a:pPr marL="226800" indent="-226800" algn="just"/>
            <a:r>
              <a:rPr lang="en-IN" sz="2400" dirty="0" smtClean="0">
                <a:solidFill>
                  <a:schemeClr val="accent1">
                    <a:lumMod val="75000"/>
                  </a:schemeClr>
                </a:solidFill>
              </a:rPr>
              <a:t>i</a:t>
            </a:r>
            <a:r>
              <a:rPr lang="en-IN" sz="2400" dirty="0" smtClean="0">
                <a:solidFill>
                  <a:schemeClr val="accent1">
                    <a:lumMod val="75000"/>
                  </a:schemeClr>
                </a:solidFill>
                <a:sym typeface="Wingdings" pitchFamily="2" charset="2"/>
              </a:rPr>
              <a:t></a:t>
            </a:r>
            <a:r>
              <a:rPr lang="en-IN" sz="2400" dirty="0" smtClean="0">
                <a:solidFill>
                  <a:schemeClr val="accent1">
                    <a:lumMod val="75000"/>
                  </a:schemeClr>
                </a:solidFill>
              </a:rPr>
              <a:t>0;  j</a:t>
            </a:r>
            <a:r>
              <a:rPr lang="en-IN" sz="2400" dirty="0" smtClean="0">
                <a:solidFill>
                  <a:schemeClr val="accent1">
                    <a:lumMod val="75000"/>
                  </a:schemeClr>
                </a:solidFill>
                <a:sym typeface="Wingdings" pitchFamily="2" charset="2"/>
              </a:rPr>
              <a:t></a:t>
            </a:r>
            <a:r>
              <a:rPr lang="en-IN" sz="2400" dirty="0" smtClean="0">
                <a:solidFill>
                  <a:schemeClr val="accent1">
                    <a:lumMod val="75000"/>
                  </a:schemeClr>
                </a:solidFill>
              </a:rPr>
              <a:t>0;  k</a:t>
            </a:r>
            <a:r>
              <a:rPr lang="en-IN" sz="2400" dirty="0" smtClean="0">
                <a:solidFill>
                  <a:schemeClr val="accent1">
                    <a:lumMod val="75000"/>
                  </a:schemeClr>
                </a:solidFill>
                <a:sym typeface="Wingdings" pitchFamily="2" charset="2"/>
              </a:rPr>
              <a:t></a:t>
            </a:r>
            <a:r>
              <a:rPr lang="en-IN" sz="2400" dirty="0" smtClean="0">
                <a:solidFill>
                  <a:schemeClr val="accent1">
                    <a:lumMod val="75000"/>
                  </a:schemeClr>
                </a:solidFill>
              </a:rPr>
              <a:t>0 </a:t>
            </a:r>
          </a:p>
          <a:p>
            <a:pPr marL="226800" indent="-226800" algn="just"/>
            <a:r>
              <a:rPr lang="en-IN" sz="2400" dirty="0" smtClean="0">
                <a:solidFill>
                  <a:schemeClr val="accent1">
                    <a:lumMod val="75000"/>
                  </a:schemeClr>
                </a:solidFill>
              </a:rPr>
              <a:t>while </a:t>
            </a:r>
            <a:r>
              <a:rPr lang="en-IN" sz="2400" dirty="0" err="1" smtClean="0">
                <a:solidFill>
                  <a:schemeClr val="accent1">
                    <a:lumMod val="75000"/>
                  </a:schemeClr>
                </a:solidFill>
              </a:rPr>
              <a:t>i</a:t>
            </a:r>
            <a:r>
              <a:rPr lang="en-IN" sz="2400" dirty="0" smtClean="0">
                <a:solidFill>
                  <a:schemeClr val="accent1">
                    <a:lumMod val="75000"/>
                  </a:schemeClr>
                </a:solidFill>
              </a:rPr>
              <a:t> &lt; p and j &lt; q do </a:t>
            </a:r>
          </a:p>
          <a:p>
            <a:pPr marL="226800" indent="-226800" algn="just"/>
            <a:r>
              <a:rPr lang="en-IN" sz="2400" dirty="0" smtClean="0">
                <a:solidFill>
                  <a:schemeClr val="accent1">
                    <a:lumMod val="75000"/>
                  </a:schemeClr>
                </a:solidFill>
              </a:rPr>
              <a:t>	if B[</a:t>
            </a:r>
            <a:r>
              <a:rPr lang="en-IN" sz="2400" dirty="0" err="1" smtClean="0">
                <a:solidFill>
                  <a:schemeClr val="accent1">
                    <a:lumMod val="75000"/>
                  </a:schemeClr>
                </a:solidFill>
              </a:rPr>
              <a:t>i</a:t>
            </a:r>
            <a:r>
              <a:rPr lang="en-IN" sz="2400" dirty="0" smtClean="0">
                <a:solidFill>
                  <a:schemeClr val="accent1">
                    <a:lumMod val="75000"/>
                  </a:schemeClr>
                </a:solidFill>
              </a:rPr>
              <a:t>] </a:t>
            </a:r>
            <a:r>
              <a:rPr lang="en-IN" sz="2400" b="1" dirty="0" smtClean="0">
                <a:solidFill>
                  <a:schemeClr val="accent1">
                    <a:lumMod val="75000"/>
                  </a:schemeClr>
                </a:solidFill>
              </a:rPr>
              <a:t>≤ </a:t>
            </a:r>
            <a:r>
              <a:rPr lang="en-IN" sz="2400" dirty="0" smtClean="0">
                <a:solidFill>
                  <a:schemeClr val="accent1">
                    <a:lumMod val="75000"/>
                  </a:schemeClr>
                </a:solidFill>
              </a:rPr>
              <a:t>C[j] </a:t>
            </a:r>
          </a:p>
          <a:p>
            <a:pPr marL="226800" indent="-226800" algn="just"/>
            <a:r>
              <a:rPr lang="en-IN" sz="2400" dirty="0" smtClean="0">
                <a:solidFill>
                  <a:schemeClr val="accent1">
                    <a:lumMod val="75000"/>
                  </a:schemeClr>
                </a:solidFill>
              </a:rPr>
              <a:t>		A[k] </a:t>
            </a:r>
            <a:r>
              <a:rPr lang="en-IN" sz="2400" dirty="0" smtClean="0">
                <a:solidFill>
                  <a:schemeClr val="accent1">
                    <a:lumMod val="75000"/>
                  </a:schemeClr>
                </a:solidFill>
                <a:sym typeface="Wingdings" pitchFamily="2" charset="2"/>
              </a:rPr>
              <a:t> </a:t>
            </a:r>
            <a:r>
              <a:rPr lang="en-IN" sz="2400" dirty="0" smtClean="0">
                <a:solidFill>
                  <a:schemeClr val="accent1">
                    <a:lumMod val="75000"/>
                  </a:schemeClr>
                </a:solidFill>
              </a:rPr>
              <a:t>B[</a:t>
            </a:r>
            <a:r>
              <a:rPr lang="en-IN" sz="2400" dirty="0" err="1" smtClean="0">
                <a:solidFill>
                  <a:schemeClr val="accent1">
                    <a:lumMod val="75000"/>
                  </a:schemeClr>
                </a:solidFill>
              </a:rPr>
              <a:t>i</a:t>
            </a:r>
            <a:r>
              <a:rPr lang="en-IN" sz="2400" dirty="0" smtClean="0">
                <a:solidFill>
                  <a:schemeClr val="accent1">
                    <a:lumMod val="75000"/>
                  </a:schemeClr>
                </a:solidFill>
              </a:rPr>
              <a:t>];  </a:t>
            </a:r>
            <a:r>
              <a:rPr lang="en-IN" sz="2400" dirty="0" err="1" smtClean="0">
                <a:solidFill>
                  <a:schemeClr val="accent1">
                    <a:lumMod val="75000"/>
                  </a:schemeClr>
                </a:solidFill>
              </a:rPr>
              <a:t>i</a:t>
            </a:r>
            <a:r>
              <a:rPr lang="en-IN" sz="24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IN" sz="2400" dirty="0" smtClean="0">
                <a:solidFill>
                  <a:schemeClr val="accent1">
                    <a:lumMod val="75000"/>
                  </a:schemeClr>
                </a:solidFill>
                <a:sym typeface="Wingdings" pitchFamily="2" charset="2"/>
              </a:rPr>
              <a:t> </a:t>
            </a:r>
            <a:r>
              <a:rPr lang="en-IN" sz="2400" dirty="0" err="1" smtClean="0">
                <a:solidFill>
                  <a:schemeClr val="accent1">
                    <a:lumMod val="75000"/>
                  </a:schemeClr>
                </a:solidFill>
              </a:rPr>
              <a:t>i</a:t>
            </a:r>
            <a:r>
              <a:rPr lang="en-IN" sz="2400" dirty="0" smtClean="0">
                <a:solidFill>
                  <a:schemeClr val="accent1">
                    <a:lumMod val="75000"/>
                  </a:schemeClr>
                </a:solidFill>
              </a:rPr>
              <a:t>  + 1 </a:t>
            </a:r>
          </a:p>
          <a:p>
            <a:pPr marL="226800" indent="-226800" algn="just"/>
            <a:r>
              <a:rPr lang="en-IN" sz="2400" dirty="0" smtClean="0">
                <a:solidFill>
                  <a:schemeClr val="accent1">
                    <a:lumMod val="75000"/>
                  </a:schemeClr>
                </a:solidFill>
              </a:rPr>
              <a:t>	else  A[k] </a:t>
            </a:r>
            <a:r>
              <a:rPr lang="en-IN" sz="2400" dirty="0" smtClean="0">
                <a:solidFill>
                  <a:schemeClr val="accent1">
                    <a:lumMod val="75000"/>
                  </a:schemeClr>
                </a:solidFill>
                <a:sym typeface="Wingdings" pitchFamily="2" charset="2"/>
              </a:rPr>
              <a:t></a:t>
            </a:r>
            <a:r>
              <a:rPr lang="en-IN" sz="2400" dirty="0" smtClean="0">
                <a:solidFill>
                  <a:schemeClr val="accent1">
                    <a:lumMod val="75000"/>
                  </a:schemeClr>
                </a:solidFill>
              </a:rPr>
              <a:t>C[j];  j</a:t>
            </a:r>
            <a:r>
              <a:rPr lang="en-IN" sz="2400" dirty="0" smtClean="0">
                <a:solidFill>
                  <a:schemeClr val="accent1">
                    <a:lumMod val="75000"/>
                  </a:schemeClr>
                </a:solidFill>
                <a:sym typeface="Wingdings" pitchFamily="2" charset="2"/>
              </a:rPr>
              <a:t> </a:t>
            </a:r>
            <a:r>
              <a:rPr lang="en-IN" sz="2400" dirty="0" smtClean="0">
                <a:solidFill>
                  <a:schemeClr val="accent1">
                    <a:lumMod val="75000"/>
                  </a:schemeClr>
                </a:solidFill>
              </a:rPr>
              <a:t>j  + 1 </a:t>
            </a:r>
          </a:p>
          <a:p>
            <a:pPr marL="226800" indent="-226800" algn="just"/>
            <a:r>
              <a:rPr lang="en-IN" sz="2400" dirty="0" smtClean="0">
                <a:solidFill>
                  <a:schemeClr val="accent1">
                    <a:lumMod val="75000"/>
                  </a:schemeClr>
                </a:solidFill>
              </a:rPr>
              <a:t>	k</a:t>
            </a:r>
            <a:r>
              <a:rPr lang="en-IN" sz="2400" dirty="0" smtClean="0">
                <a:solidFill>
                  <a:schemeClr val="accent1">
                    <a:lumMod val="75000"/>
                  </a:schemeClr>
                </a:solidFill>
                <a:sym typeface="Wingdings" pitchFamily="2" charset="2"/>
              </a:rPr>
              <a:t></a:t>
            </a:r>
            <a:r>
              <a:rPr lang="en-IN" sz="2400" dirty="0" smtClean="0">
                <a:solidFill>
                  <a:schemeClr val="accent1">
                    <a:lumMod val="75000"/>
                  </a:schemeClr>
                </a:solidFill>
              </a:rPr>
              <a:t>k+1 </a:t>
            </a:r>
          </a:p>
          <a:p>
            <a:pPr marL="226800" indent="-226800" algn="just"/>
            <a:r>
              <a:rPr lang="en-IN" sz="2400" dirty="0" smtClean="0">
                <a:solidFill>
                  <a:schemeClr val="accent1">
                    <a:lumMod val="75000"/>
                  </a:schemeClr>
                </a:solidFill>
              </a:rPr>
              <a:t>if </a:t>
            </a:r>
            <a:r>
              <a:rPr lang="en-IN" sz="2400" dirty="0" err="1" smtClean="0">
                <a:solidFill>
                  <a:schemeClr val="accent1">
                    <a:lumMod val="75000"/>
                  </a:schemeClr>
                </a:solidFill>
              </a:rPr>
              <a:t>i</a:t>
            </a:r>
            <a:r>
              <a:rPr lang="en-IN" sz="2400" dirty="0" smtClean="0">
                <a:solidFill>
                  <a:schemeClr val="accent1">
                    <a:lumMod val="75000"/>
                  </a:schemeClr>
                </a:solidFill>
              </a:rPr>
              <a:t> =  p </a:t>
            </a:r>
          </a:p>
          <a:p>
            <a:pPr marL="226800" indent="-226800" algn="just"/>
            <a:r>
              <a:rPr lang="en-IN" sz="2400" dirty="0" smtClean="0">
                <a:solidFill>
                  <a:schemeClr val="accent1">
                    <a:lumMod val="75000"/>
                  </a:schemeClr>
                </a:solidFill>
              </a:rPr>
              <a:t>	copy C[j .. q-1] to A[k .. p + q - 1] </a:t>
            </a:r>
          </a:p>
          <a:p>
            <a:pPr marL="226800" indent="-226800" algn="just"/>
            <a:r>
              <a:rPr lang="en-IN" sz="2400" dirty="0" smtClean="0">
                <a:solidFill>
                  <a:schemeClr val="accent1">
                    <a:lumMod val="75000"/>
                  </a:schemeClr>
                </a:solidFill>
              </a:rPr>
              <a:t>else</a:t>
            </a:r>
          </a:p>
          <a:p>
            <a:pPr marL="226800" indent="-226800" algn="just"/>
            <a:r>
              <a:rPr lang="en-IN" sz="2400" dirty="0" smtClean="0">
                <a:solidFill>
                  <a:schemeClr val="accent1">
                    <a:lumMod val="75000"/>
                  </a:schemeClr>
                </a:solidFill>
              </a:rPr>
              <a:t>	copy B[</a:t>
            </a:r>
            <a:r>
              <a:rPr lang="en-IN" sz="2400" dirty="0" err="1" smtClean="0">
                <a:solidFill>
                  <a:schemeClr val="accent1">
                    <a:lumMod val="75000"/>
                  </a:schemeClr>
                </a:solidFill>
              </a:rPr>
              <a:t>i</a:t>
            </a:r>
            <a:r>
              <a:rPr lang="en-IN" sz="2400" dirty="0" smtClean="0">
                <a:solidFill>
                  <a:schemeClr val="accent1">
                    <a:lumMod val="75000"/>
                  </a:schemeClr>
                </a:solidFill>
              </a:rPr>
              <a:t> .. p -1] to A[k .. p + q -1]</a:t>
            </a:r>
            <a:endParaRPr lang="en-IN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6626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26627" name="Rectangle 3"/>
          <p:cNvSpPr>
            <a:spLocks noChangeArrowheads="1"/>
          </p:cNvSpPr>
          <p:nvPr/>
        </p:nvSpPr>
        <p:spPr bwMode="auto">
          <a:xfrm>
            <a:off x="0" y="108585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6629" name="Rectangle 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26630" name="Rectangle 6"/>
          <p:cNvSpPr>
            <a:spLocks noChangeArrowheads="1"/>
          </p:cNvSpPr>
          <p:nvPr/>
        </p:nvSpPr>
        <p:spPr bwMode="auto">
          <a:xfrm>
            <a:off x="0" y="108585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6632" name="Rectangle 8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26633" name="Rectangle 9"/>
          <p:cNvSpPr>
            <a:spLocks noChangeArrowheads="1"/>
          </p:cNvSpPr>
          <p:nvPr/>
        </p:nvSpPr>
        <p:spPr bwMode="auto">
          <a:xfrm>
            <a:off x="0" y="74295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6635" name="Rectangle 11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26636" name="Rectangle 12"/>
          <p:cNvSpPr>
            <a:spLocks noChangeArrowheads="1"/>
          </p:cNvSpPr>
          <p:nvPr/>
        </p:nvSpPr>
        <p:spPr bwMode="auto">
          <a:xfrm>
            <a:off x="0" y="74295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665001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4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500"/>
                                        <p:tgtEl>
                                          <p:spTgt spid="4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500"/>
                                        <p:tgtEl>
                                          <p:spTgt spid="4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0" dur="500"/>
                                        <p:tgtEl>
                                          <p:spTgt spid="4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5" dur="500"/>
                                        <p:tgtEl>
                                          <p:spTgt spid="4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0" dur="500"/>
                                        <p:tgtEl>
                                          <p:spTgt spid="4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547394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Merge Sort - Example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016009"/>
            <a:ext cx="8642857" cy="2894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=""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="" xmlns:a16="http://schemas.microsoft.com/office/drawing/2014/main" id="{4F3FB185-DBF7-4A22-BB42-211E8BAD4C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3" y="1258960"/>
            <a:ext cx="7938050" cy="45794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14000"/>
              </a:lnSpc>
            </a:pPr>
            <a:endParaRPr lang="en-US" sz="24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algn="just">
              <a:lnSpc>
                <a:spcPct val="114000"/>
              </a:lnSpc>
            </a:pPr>
            <a:endParaRPr lang="en-IN" sz="24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algn="just">
              <a:lnSpc>
                <a:spcPct val="114000"/>
              </a:lnSpc>
            </a:pPr>
            <a:endParaRPr lang="en-IN" sz="24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230400" indent="-230400" algn="just">
              <a:lnSpc>
                <a:spcPct val="114000"/>
              </a:lnSpc>
            </a:pPr>
            <a:endParaRPr lang="en-US" sz="24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230400" indent="-230400" algn="just">
              <a:lnSpc>
                <a:spcPct val="114000"/>
              </a:lnSpc>
              <a:buFont typeface="Arial" pitchFamily="34" charset="0"/>
              <a:buChar char="•"/>
            </a:pPr>
            <a:endParaRPr lang="en-US" sz="24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230400" indent="-230400" algn="just">
              <a:lnSpc>
                <a:spcPct val="114000"/>
              </a:lnSpc>
            </a:pPr>
            <a:endParaRPr lang="en-US" sz="24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230400" indent="-230400" algn="just">
              <a:lnSpc>
                <a:spcPct val="114000"/>
              </a:lnSpc>
              <a:buFont typeface="Arial" pitchFamily="34" charset="0"/>
              <a:buChar char="•"/>
            </a:pPr>
            <a:endParaRPr lang="en-US" sz="24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230400" indent="-230400" algn="just">
              <a:lnSpc>
                <a:spcPct val="114000"/>
              </a:lnSpc>
              <a:buFont typeface="Arial" pitchFamily="34" charset="0"/>
              <a:buChar char="•"/>
            </a:pPr>
            <a:endParaRPr lang="en-US" sz="24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230400" indent="-230400" algn="just">
              <a:lnSpc>
                <a:spcPct val="114000"/>
              </a:lnSpc>
              <a:buFont typeface="Arial" pitchFamily="34" charset="0"/>
              <a:buChar char="•"/>
            </a:pPr>
            <a:endParaRPr lang="en-US" sz="24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230400" indent="-230400" algn="just">
              <a:lnSpc>
                <a:spcPct val="114000"/>
              </a:lnSpc>
            </a:pPr>
            <a:endParaRPr lang="en-IN" sz="24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endParaRPr lang="en-US" sz="2400" dirty="0" smtClean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147736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64770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64770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035" name="Rectangle 11"/>
          <p:cNvSpPr>
            <a:spLocks noChangeArrowheads="1"/>
          </p:cNvSpPr>
          <p:nvPr/>
        </p:nvSpPr>
        <p:spPr bwMode="auto">
          <a:xfrm>
            <a:off x="0" y="64770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37" name="Rectangle 1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038" name="Rectangle 14"/>
          <p:cNvSpPr>
            <a:spLocks noChangeArrowheads="1"/>
          </p:cNvSpPr>
          <p:nvPr/>
        </p:nvSpPr>
        <p:spPr bwMode="auto">
          <a:xfrm>
            <a:off x="0" y="64770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041" name="Rectangle 17"/>
          <p:cNvSpPr>
            <a:spLocks noChangeArrowheads="1"/>
          </p:cNvSpPr>
          <p:nvPr/>
        </p:nvSpPr>
        <p:spPr bwMode="auto">
          <a:xfrm>
            <a:off x="0" y="64770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43" name="Rectangle 19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045" name="Rectangle 2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047" name="Rectangle 23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049" name="Rectangle 2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051" name="Rectangle 27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052" name="Rectangle 28"/>
          <p:cNvSpPr>
            <a:spLocks noChangeArrowheads="1"/>
          </p:cNvSpPr>
          <p:nvPr/>
        </p:nvSpPr>
        <p:spPr bwMode="auto">
          <a:xfrm>
            <a:off x="0" y="64770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54" name="Rectangle 30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055" name="Rectangle 31"/>
          <p:cNvSpPr>
            <a:spLocks noChangeArrowheads="1"/>
          </p:cNvSpPr>
          <p:nvPr/>
        </p:nvSpPr>
        <p:spPr bwMode="auto">
          <a:xfrm>
            <a:off x="0" y="80010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61" name="Rectangle 37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062" name="Rectangle 38"/>
          <p:cNvSpPr>
            <a:spLocks noChangeArrowheads="1"/>
          </p:cNvSpPr>
          <p:nvPr/>
        </p:nvSpPr>
        <p:spPr bwMode="auto">
          <a:xfrm>
            <a:off x="0" y="80010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22531" name="Rectangle 3"/>
          <p:cNvSpPr>
            <a:spLocks noChangeArrowheads="1"/>
          </p:cNvSpPr>
          <p:nvPr/>
        </p:nvSpPr>
        <p:spPr bwMode="auto">
          <a:xfrm>
            <a:off x="0" y="68580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22534" name="Rectangle 6"/>
          <p:cNvSpPr>
            <a:spLocks noChangeArrowheads="1"/>
          </p:cNvSpPr>
          <p:nvPr/>
        </p:nvSpPr>
        <p:spPr bwMode="auto">
          <a:xfrm>
            <a:off x="0" y="1076325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536" name="Rectangle 8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22537" name="Rectangle 9"/>
          <p:cNvSpPr>
            <a:spLocks noChangeArrowheads="1"/>
          </p:cNvSpPr>
          <p:nvPr/>
        </p:nvSpPr>
        <p:spPr bwMode="auto">
          <a:xfrm>
            <a:off x="0" y="847725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539" name="Rectangle 1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25602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25603" name="Rectangle 3"/>
          <p:cNvSpPr>
            <a:spLocks noChangeArrowheads="1"/>
          </p:cNvSpPr>
          <p:nvPr/>
        </p:nvSpPr>
        <p:spPr bwMode="auto">
          <a:xfrm>
            <a:off x="0" y="83820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5605" name="Rectangle 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26626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26627" name="Rectangle 3"/>
          <p:cNvSpPr>
            <a:spLocks noChangeArrowheads="1"/>
          </p:cNvSpPr>
          <p:nvPr/>
        </p:nvSpPr>
        <p:spPr bwMode="auto">
          <a:xfrm>
            <a:off x="0" y="108585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6629" name="Rectangle 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26632" name="Rectangle 8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26635" name="Rectangle 11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graphicFrame>
        <p:nvGraphicFramePr>
          <p:cNvPr id="48" name="Table 47"/>
          <p:cNvGraphicFramePr>
            <a:graphicFrameLocks noGrp="1"/>
          </p:cNvGraphicFramePr>
          <p:nvPr/>
        </p:nvGraphicFramePr>
        <p:xfrm>
          <a:off x="1548686" y="1464248"/>
          <a:ext cx="5479144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4893"/>
                <a:gridCol w="684893"/>
                <a:gridCol w="684893"/>
                <a:gridCol w="684893"/>
                <a:gridCol w="684893"/>
                <a:gridCol w="684893"/>
                <a:gridCol w="684893"/>
                <a:gridCol w="684893"/>
              </a:tblGrid>
              <a:tr h="42986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8</a:t>
                      </a:r>
                      <a:endParaRPr lang="en-IN" sz="24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3</a:t>
                      </a:r>
                      <a:endParaRPr lang="en-IN" sz="24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2</a:t>
                      </a:r>
                      <a:endParaRPr lang="en-IN" sz="24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9</a:t>
                      </a:r>
                      <a:endParaRPr lang="en-IN" sz="24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7</a:t>
                      </a:r>
                      <a:endParaRPr lang="en-IN" sz="24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</a:t>
                      </a:r>
                      <a:endParaRPr lang="en-IN" sz="24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5</a:t>
                      </a:r>
                      <a:endParaRPr lang="en-IN" sz="24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4</a:t>
                      </a:r>
                      <a:endParaRPr lang="en-IN" sz="24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9" name="Table 48"/>
          <p:cNvGraphicFramePr>
            <a:graphicFrameLocks noGrp="1"/>
          </p:cNvGraphicFramePr>
          <p:nvPr/>
        </p:nvGraphicFramePr>
        <p:xfrm>
          <a:off x="869403" y="2248019"/>
          <a:ext cx="2739572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4893"/>
                <a:gridCol w="684893"/>
                <a:gridCol w="684893"/>
                <a:gridCol w="684893"/>
              </a:tblGrid>
              <a:tr h="42986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8</a:t>
                      </a:r>
                      <a:endParaRPr lang="en-IN" sz="24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3</a:t>
                      </a:r>
                      <a:endParaRPr lang="en-IN" sz="24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2</a:t>
                      </a:r>
                      <a:endParaRPr lang="en-IN" sz="24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9</a:t>
                      </a:r>
                      <a:endParaRPr lang="en-IN" sz="24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0" name="Table 49"/>
          <p:cNvGraphicFramePr>
            <a:graphicFrameLocks noGrp="1"/>
          </p:cNvGraphicFramePr>
          <p:nvPr/>
        </p:nvGraphicFramePr>
        <p:xfrm>
          <a:off x="4997269" y="2261082"/>
          <a:ext cx="2739572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4893"/>
                <a:gridCol w="684893"/>
                <a:gridCol w="684893"/>
                <a:gridCol w="684893"/>
              </a:tblGrid>
              <a:tr h="42986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7</a:t>
                      </a:r>
                      <a:endParaRPr lang="en-IN" sz="24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</a:t>
                      </a:r>
                      <a:endParaRPr lang="en-IN" sz="24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5</a:t>
                      </a:r>
                      <a:endParaRPr lang="en-IN" sz="24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4</a:t>
                      </a:r>
                      <a:endParaRPr lang="en-IN" sz="24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1" name="Table 50"/>
          <p:cNvGraphicFramePr>
            <a:graphicFrameLocks noGrp="1"/>
          </p:cNvGraphicFramePr>
          <p:nvPr/>
        </p:nvGraphicFramePr>
        <p:xfrm>
          <a:off x="451394" y="2992603"/>
          <a:ext cx="1369786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4893"/>
                <a:gridCol w="684893"/>
              </a:tblGrid>
              <a:tr h="42986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8</a:t>
                      </a:r>
                      <a:endParaRPr lang="en-IN" sz="24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3</a:t>
                      </a:r>
                      <a:endParaRPr lang="en-IN" sz="24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2541452" y="3018728"/>
          <a:ext cx="1369786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4893"/>
                <a:gridCol w="684893"/>
              </a:tblGrid>
              <a:tr h="42986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2</a:t>
                      </a:r>
                      <a:endParaRPr lang="en-IN" sz="24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9</a:t>
                      </a:r>
                      <a:endParaRPr lang="en-IN" sz="24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3" name="Table 52"/>
          <p:cNvGraphicFramePr>
            <a:graphicFrameLocks noGrp="1"/>
          </p:cNvGraphicFramePr>
          <p:nvPr/>
        </p:nvGraphicFramePr>
        <p:xfrm>
          <a:off x="4527005" y="2992603"/>
          <a:ext cx="1369786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4893"/>
                <a:gridCol w="684893"/>
              </a:tblGrid>
              <a:tr h="42986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7</a:t>
                      </a:r>
                      <a:endParaRPr lang="en-IN" sz="24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</a:t>
                      </a:r>
                      <a:endParaRPr lang="en-IN" sz="24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4" name="Table 53"/>
          <p:cNvGraphicFramePr>
            <a:graphicFrameLocks noGrp="1"/>
          </p:cNvGraphicFramePr>
          <p:nvPr/>
        </p:nvGraphicFramePr>
        <p:xfrm>
          <a:off x="6643188" y="2992603"/>
          <a:ext cx="1369786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4893"/>
                <a:gridCol w="684893"/>
              </a:tblGrid>
              <a:tr h="42986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5</a:t>
                      </a:r>
                      <a:endParaRPr lang="en-IN" sz="24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4</a:t>
                      </a:r>
                      <a:endParaRPr lang="en-IN" sz="24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6" name="Table 55"/>
          <p:cNvGraphicFramePr>
            <a:graphicFrameLocks noGrp="1"/>
          </p:cNvGraphicFramePr>
          <p:nvPr/>
        </p:nvGraphicFramePr>
        <p:xfrm>
          <a:off x="290284" y="3824268"/>
          <a:ext cx="684893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4893"/>
              </a:tblGrid>
              <a:tr h="42986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8</a:t>
                      </a:r>
                      <a:endParaRPr lang="en-IN" sz="24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7" name="Table 56"/>
          <p:cNvGraphicFramePr>
            <a:graphicFrameLocks noGrp="1"/>
          </p:cNvGraphicFramePr>
          <p:nvPr/>
        </p:nvGraphicFramePr>
        <p:xfrm>
          <a:off x="2419531" y="3850393"/>
          <a:ext cx="684893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4893"/>
              </a:tblGrid>
              <a:tr h="42986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2</a:t>
                      </a:r>
                      <a:endParaRPr lang="en-IN" sz="24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8" name="Table 57"/>
          <p:cNvGraphicFramePr>
            <a:graphicFrameLocks noGrp="1"/>
          </p:cNvGraphicFramePr>
          <p:nvPr/>
        </p:nvGraphicFramePr>
        <p:xfrm>
          <a:off x="1409337" y="3846039"/>
          <a:ext cx="684893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4893"/>
              </a:tblGrid>
              <a:tr h="42986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3</a:t>
                      </a:r>
                      <a:endParaRPr lang="en-IN" sz="24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9" name="Table 58"/>
          <p:cNvGraphicFramePr>
            <a:graphicFrameLocks noGrp="1"/>
          </p:cNvGraphicFramePr>
          <p:nvPr/>
        </p:nvGraphicFramePr>
        <p:xfrm>
          <a:off x="3525520" y="3872164"/>
          <a:ext cx="684893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4893"/>
              </a:tblGrid>
              <a:tr h="42986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9</a:t>
                      </a:r>
                      <a:endParaRPr lang="en-IN" sz="24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0" name="Table 59"/>
          <p:cNvGraphicFramePr>
            <a:graphicFrameLocks noGrp="1"/>
          </p:cNvGraphicFramePr>
          <p:nvPr/>
        </p:nvGraphicFramePr>
        <p:xfrm>
          <a:off x="4387668" y="3859102"/>
          <a:ext cx="684893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4893"/>
              </a:tblGrid>
              <a:tr h="42986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7</a:t>
                      </a:r>
                      <a:endParaRPr lang="en-IN" sz="24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6477726" y="3885227"/>
          <a:ext cx="684893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4893"/>
              </a:tblGrid>
              <a:tr h="42986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5</a:t>
                      </a:r>
                      <a:endParaRPr lang="en-IN" sz="24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2" name="Table 61"/>
          <p:cNvGraphicFramePr>
            <a:graphicFrameLocks noGrp="1"/>
          </p:cNvGraphicFramePr>
          <p:nvPr/>
        </p:nvGraphicFramePr>
        <p:xfrm>
          <a:off x="5441405" y="3880873"/>
          <a:ext cx="684893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4893"/>
              </a:tblGrid>
              <a:tr h="42986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</a:t>
                      </a:r>
                      <a:endParaRPr lang="en-IN" sz="24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7531463" y="3906998"/>
          <a:ext cx="684893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4893"/>
              </a:tblGrid>
              <a:tr h="42986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4</a:t>
                      </a:r>
                      <a:endParaRPr lang="en-IN" sz="24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4" name="Table 63"/>
          <p:cNvGraphicFramePr>
            <a:graphicFrameLocks noGrp="1"/>
          </p:cNvGraphicFramePr>
          <p:nvPr/>
        </p:nvGraphicFramePr>
        <p:xfrm>
          <a:off x="577668" y="4634169"/>
          <a:ext cx="1369786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4893"/>
                <a:gridCol w="684893"/>
              </a:tblGrid>
              <a:tr h="42986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3</a:t>
                      </a:r>
                      <a:endParaRPr lang="en-IN" sz="24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8</a:t>
                      </a:r>
                      <a:endParaRPr lang="en-IN" sz="24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5" name="Table 64"/>
          <p:cNvGraphicFramePr>
            <a:graphicFrameLocks noGrp="1"/>
          </p:cNvGraphicFramePr>
          <p:nvPr/>
        </p:nvGraphicFramePr>
        <p:xfrm>
          <a:off x="2667726" y="4660294"/>
          <a:ext cx="1369786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4893"/>
                <a:gridCol w="684893"/>
              </a:tblGrid>
              <a:tr h="42986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2</a:t>
                      </a:r>
                      <a:endParaRPr lang="en-IN" sz="24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9</a:t>
                      </a:r>
                      <a:endParaRPr lang="en-IN" sz="24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6" name="Table 65"/>
          <p:cNvGraphicFramePr>
            <a:graphicFrameLocks noGrp="1"/>
          </p:cNvGraphicFramePr>
          <p:nvPr/>
        </p:nvGraphicFramePr>
        <p:xfrm>
          <a:off x="4653279" y="4634169"/>
          <a:ext cx="1369786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4893"/>
                <a:gridCol w="684893"/>
              </a:tblGrid>
              <a:tr h="42986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</a:t>
                      </a:r>
                      <a:endParaRPr lang="en-IN" sz="24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7</a:t>
                      </a:r>
                      <a:endParaRPr lang="en-IN" sz="24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7" name="Table 66"/>
          <p:cNvGraphicFramePr>
            <a:graphicFrameLocks noGrp="1"/>
          </p:cNvGraphicFramePr>
          <p:nvPr/>
        </p:nvGraphicFramePr>
        <p:xfrm>
          <a:off x="6769462" y="4634169"/>
          <a:ext cx="1369786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4893"/>
                <a:gridCol w="684893"/>
              </a:tblGrid>
              <a:tr h="42986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4</a:t>
                      </a:r>
                      <a:endParaRPr lang="en-IN" sz="24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5</a:t>
                      </a:r>
                      <a:endParaRPr lang="en-IN" sz="24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8" name="Table 67"/>
          <p:cNvGraphicFramePr>
            <a:graphicFrameLocks noGrp="1"/>
          </p:cNvGraphicFramePr>
          <p:nvPr/>
        </p:nvGraphicFramePr>
        <p:xfrm>
          <a:off x="812798" y="5378751"/>
          <a:ext cx="2739572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4893"/>
                <a:gridCol w="684893"/>
                <a:gridCol w="684893"/>
                <a:gridCol w="684893"/>
              </a:tblGrid>
              <a:tr h="42986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2</a:t>
                      </a:r>
                      <a:endParaRPr lang="en-IN" sz="24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3</a:t>
                      </a:r>
                      <a:endParaRPr lang="en-IN" sz="24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8</a:t>
                      </a:r>
                      <a:endParaRPr lang="en-IN" sz="24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9</a:t>
                      </a:r>
                      <a:endParaRPr lang="en-IN" sz="24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9" name="Table 68"/>
          <p:cNvGraphicFramePr>
            <a:graphicFrameLocks noGrp="1"/>
          </p:cNvGraphicFramePr>
          <p:nvPr/>
        </p:nvGraphicFramePr>
        <p:xfrm>
          <a:off x="4940664" y="5391814"/>
          <a:ext cx="2739572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4893"/>
                <a:gridCol w="684893"/>
                <a:gridCol w="684893"/>
                <a:gridCol w="684893"/>
              </a:tblGrid>
              <a:tr h="42986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</a:t>
                      </a:r>
                      <a:endParaRPr lang="en-IN" sz="24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4</a:t>
                      </a:r>
                      <a:endParaRPr lang="en-IN" sz="24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5</a:t>
                      </a:r>
                      <a:endParaRPr lang="en-IN" sz="24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7</a:t>
                      </a:r>
                      <a:endParaRPr lang="en-IN" sz="24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0" name="Table 69"/>
          <p:cNvGraphicFramePr>
            <a:graphicFrameLocks noGrp="1"/>
          </p:cNvGraphicFramePr>
          <p:nvPr/>
        </p:nvGraphicFramePr>
        <p:xfrm>
          <a:off x="1492080" y="6136397"/>
          <a:ext cx="5479144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4893"/>
                <a:gridCol w="684893"/>
                <a:gridCol w="684893"/>
                <a:gridCol w="684893"/>
                <a:gridCol w="684893"/>
                <a:gridCol w="684893"/>
                <a:gridCol w="684893"/>
                <a:gridCol w="684893"/>
              </a:tblGrid>
              <a:tr h="42986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</a:t>
                      </a:r>
                      <a:endParaRPr lang="en-IN" sz="24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2</a:t>
                      </a:r>
                      <a:endParaRPr lang="en-IN" sz="24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3</a:t>
                      </a:r>
                      <a:endParaRPr lang="en-IN" sz="24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4</a:t>
                      </a:r>
                      <a:endParaRPr lang="en-IN" sz="24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5</a:t>
                      </a:r>
                      <a:endParaRPr lang="en-IN" sz="24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7</a:t>
                      </a:r>
                      <a:endParaRPr lang="en-IN" sz="24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8</a:t>
                      </a:r>
                      <a:endParaRPr lang="en-IN" sz="24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9</a:t>
                      </a:r>
                      <a:endParaRPr lang="en-IN" sz="24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72" name="Straight Arrow Connector 71"/>
          <p:cNvCxnSpPr/>
          <p:nvPr/>
        </p:nvCxnSpPr>
        <p:spPr>
          <a:xfrm rot="10800000" flipV="1">
            <a:off x="2050869" y="1920240"/>
            <a:ext cx="731520" cy="30044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>
            <a:off x="5447212" y="1920240"/>
            <a:ext cx="783771" cy="339634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 rot="10800000" flipV="1">
            <a:off x="923109" y="2686594"/>
            <a:ext cx="731520" cy="30044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>
            <a:off x="2625634" y="2717074"/>
            <a:ext cx="792481" cy="309154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 rot="10800000" flipV="1">
            <a:off x="5077099" y="2730136"/>
            <a:ext cx="735873" cy="269967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/>
          <p:nvPr/>
        </p:nvCxnSpPr>
        <p:spPr>
          <a:xfrm>
            <a:off x="6723017" y="2712720"/>
            <a:ext cx="775063" cy="265611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/>
          <p:nvPr/>
        </p:nvCxnSpPr>
        <p:spPr>
          <a:xfrm rot="5400000">
            <a:off x="548641" y="3492137"/>
            <a:ext cx="343989" cy="283029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/>
          <p:nvPr/>
        </p:nvCxnSpPr>
        <p:spPr>
          <a:xfrm rot="5400000">
            <a:off x="2645229" y="3507379"/>
            <a:ext cx="378824" cy="28738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/>
          <p:nvPr/>
        </p:nvCxnSpPr>
        <p:spPr>
          <a:xfrm rot="5400000">
            <a:off x="4639494" y="3520439"/>
            <a:ext cx="409303" cy="283031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/>
          <p:nvPr/>
        </p:nvCxnSpPr>
        <p:spPr>
          <a:xfrm rot="5400000">
            <a:off x="6742612" y="3546565"/>
            <a:ext cx="448491" cy="26996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/>
          <p:nvPr/>
        </p:nvCxnSpPr>
        <p:spPr>
          <a:xfrm>
            <a:off x="1410789" y="3448594"/>
            <a:ext cx="444137" cy="39188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/>
          <p:cNvCxnSpPr/>
          <p:nvPr/>
        </p:nvCxnSpPr>
        <p:spPr>
          <a:xfrm>
            <a:off x="3531325" y="3492137"/>
            <a:ext cx="413658" cy="400594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/>
          <p:cNvCxnSpPr/>
          <p:nvPr/>
        </p:nvCxnSpPr>
        <p:spPr>
          <a:xfrm>
            <a:off x="5425440" y="3452948"/>
            <a:ext cx="465909" cy="426721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/>
          <p:cNvCxnSpPr/>
          <p:nvPr/>
        </p:nvCxnSpPr>
        <p:spPr>
          <a:xfrm rot="16200000" flipH="1">
            <a:off x="7515497" y="3466011"/>
            <a:ext cx="452846" cy="42672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/>
          <p:cNvCxnSpPr/>
          <p:nvPr/>
        </p:nvCxnSpPr>
        <p:spPr>
          <a:xfrm>
            <a:off x="574766" y="4284617"/>
            <a:ext cx="444137" cy="339634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/>
          <p:cNvCxnSpPr/>
          <p:nvPr/>
        </p:nvCxnSpPr>
        <p:spPr>
          <a:xfrm rot="10800000" flipV="1">
            <a:off x="1441272" y="4310742"/>
            <a:ext cx="413655" cy="317863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5" name="Straight Arrow Connector 104"/>
          <p:cNvCxnSpPr/>
          <p:nvPr/>
        </p:nvCxnSpPr>
        <p:spPr>
          <a:xfrm>
            <a:off x="2738846" y="4306388"/>
            <a:ext cx="444137" cy="339634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/>
          <p:cNvCxnSpPr/>
          <p:nvPr/>
        </p:nvCxnSpPr>
        <p:spPr>
          <a:xfrm rot="10800000" flipV="1">
            <a:off x="3605352" y="4332513"/>
            <a:ext cx="413655" cy="317863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7" name="Straight Arrow Connector 106"/>
          <p:cNvCxnSpPr/>
          <p:nvPr/>
        </p:nvCxnSpPr>
        <p:spPr>
          <a:xfrm>
            <a:off x="4698274" y="4306388"/>
            <a:ext cx="444137" cy="339634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/>
          <p:cNvCxnSpPr/>
          <p:nvPr/>
        </p:nvCxnSpPr>
        <p:spPr>
          <a:xfrm rot="10800000" flipV="1">
            <a:off x="5564780" y="4332513"/>
            <a:ext cx="413655" cy="317863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9" name="Straight Arrow Connector 108"/>
          <p:cNvCxnSpPr/>
          <p:nvPr/>
        </p:nvCxnSpPr>
        <p:spPr>
          <a:xfrm>
            <a:off x="6779623" y="4349931"/>
            <a:ext cx="404948" cy="27432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/>
          <p:cNvCxnSpPr/>
          <p:nvPr/>
        </p:nvCxnSpPr>
        <p:spPr>
          <a:xfrm rot="10800000" flipV="1">
            <a:off x="7694023" y="4362993"/>
            <a:ext cx="339634" cy="274319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5" name="Straight Arrow Connector 114"/>
          <p:cNvCxnSpPr/>
          <p:nvPr/>
        </p:nvCxnSpPr>
        <p:spPr>
          <a:xfrm>
            <a:off x="1045029" y="5107577"/>
            <a:ext cx="644434" cy="278674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/>
          <p:cNvCxnSpPr/>
          <p:nvPr/>
        </p:nvCxnSpPr>
        <p:spPr>
          <a:xfrm rot="10800000" flipV="1">
            <a:off x="2956562" y="5120639"/>
            <a:ext cx="583472" cy="265611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0" name="Straight Arrow Connector 119"/>
          <p:cNvCxnSpPr/>
          <p:nvPr/>
        </p:nvCxnSpPr>
        <p:spPr>
          <a:xfrm>
            <a:off x="5416732" y="5090160"/>
            <a:ext cx="644434" cy="278674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/>
          <p:cNvCxnSpPr/>
          <p:nvPr/>
        </p:nvCxnSpPr>
        <p:spPr>
          <a:xfrm rot="10800000" flipV="1">
            <a:off x="6779623" y="5090159"/>
            <a:ext cx="570412" cy="317864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3" name="Straight Arrow Connector 122"/>
          <p:cNvCxnSpPr/>
          <p:nvPr/>
        </p:nvCxnSpPr>
        <p:spPr>
          <a:xfrm>
            <a:off x="1955074" y="5834742"/>
            <a:ext cx="644434" cy="278674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/>
          <p:cNvCxnSpPr/>
          <p:nvPr/>
        </p:nvCxnSpPr>
        <p:spPr>
          <a:xfrm rot="10800000" flipV="1">
            <a:off x="5429795" y="5839097"/>
            <a:ext cx="618309" cy="309154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665001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547394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Merge Sort - Algorithm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016009"/>
            <a:ext cx="8642857" cy="2894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=""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="" xmlns:a16="http://schemas.microsoft.com/office/drawing/2014/main" id="{4F3FB185-DBF7-4A22-BB42-211E8BAD4C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3" y="1258960"/>
            <a:ext cx="7938050" cy="45794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14000"/>
              </a:lnSpc>
            </a:pPr>
            <a:endParaRPr lang="en-US" sz="24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algn="just">
              <a:lnSpc>
                <a:spcPct val="114000"/>
              </a:lnSpc>
            </a:pPr>
            <a:endParaRPr lang="en-IN" sz="24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algn="just">
              <a:lnSpc>
                <a:spcPct val="114000"/>
              </a:lnSpc>
            </a:pPr>
            <a:endParaRPr lang="en-IN" sz="24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230400" indent="-230400" algn="just">
              <a:lnSpc>
                <a:spcPct val="114000"/>
              </a:lnSpc>
            </a:pPr>
            <a:endParaRPr lang="en-US" sz="24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230400" indent="-230400" algn="just">
              <a:lnSpc>
                <a:spcPct val="114000"/>
              </a:lnSpc>
              <a:buFont typeface="Arial" pitchFamily="34" charset="0"/>
              <a:buChar char="•"/>
            </a:pPr>
            <a:endParaRPr lang="en-US" sz="24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230400" indent="-230400" algn="just">
              <a:lnSpc>
                <a:spcPct val="114000"/>
              </a:lnSpc>
            </a:pPr>
            <a:endParaRPr lang="en-US" sz="24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230400" indent="-230400" algn="just">
              <a:lnSpc>
                <a:spcPct val="114000"/>
              </a:lnSpc>
              <a:buFont typeface="Arial" pitchFamily="34" charset="0"/>
              <a:buChar char="•"/>
            </a:pPr>
            <a:endParaRPr lang="en-US" sz="24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230400" indent="-230400" algn="just">
              <a:lnSpc>
                <a:spcPct val="114000"/>
              </a:lnSpc>
              <a:buFont typeface="Arial" pitchFamily="34" charset="0"/>
              <a:buChar char="•"/>
            </a:pPr>
            <a:endParaRPr lang="en-US" sz="24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230400" indent="-230400" algn="just">
              <a:lnSpc>
                <a:spcPct val="114000"/>
              </a:lnSpc>
              <a:buFont typeface="Arial" pitchFamily="34" charset="0"/>
              <a:buChar char="•"/>
            </a:pPr>
            <a:endParaRPr lang="en-US" sz="24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230400" indent="-230400" algn="just">
              <a:lnSpc>
                <a:spcPct val="114000"/>
              </a:lnSpc>
            </a:pPr>
            <a:endParaRPr lang="en-IN" sz="24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endParaRPr lang="en-US" sz="2400" dirty="0" smtClean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147736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64770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64770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035" name="Rectangle 11"/>
          <p:cNvSpPr>
            <a:spLocks noChangeArrowheads="1"/>
          </p:cNvSpPr>
          <p:nvPr/>
        </p:nvSpPr>
        <p:spPr bwMode="auto">
          <a:xfrm>
            <a:off x="0" y="64770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37" name="Rectangle 1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038" name="Rectangle 14"/>
          <p:cNvSpPr>
            <a:spLocks noChangeArrowheads="1"/>
          </p:cNvSpPr>
          <p:nvPr/>
        </p:nvSpPr>
        <p:spPr bwMode="auto">
          <a:xfrm>
            <a:off x="0" y="64770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041" name="Rectangle 17"/>
          <p:cNvSpPr>
            <a:spLocks noChangeArrowheads="1"/>
          </p:cNvSpPr>
          <p:nvPr/>
        </p:nvSpPr>
        <p:spPr bwMode="auto">
          <a:xfrm>
            <a:off x="0" y="64770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43" name="Rectangle 19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045" name="Rectangle 2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047" name="Rectangle 23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049" name="Rectangle 2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051" name="Rectangle 27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052" name="Rectangle 28"/>
          <p:cNvSpPr>
            <a:spLocks noChangeArrowheads="1"/>
          </p:cNvSpPr>
          <p:nvPr/>
        </p:nvSpPr>
        <p:spPr bwMode="auto">
          <a:xfrm>
            <a:off x="0" y="64770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54" name="Rectangle 30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055" name="Rectangle 31"/>
          <p:cNvSpPr>
            <a:spLocks noChangeArrowheads="1"/>
          </p:cNvSpPr>
          <p:nvPr/>
        </p:nvSpPr>
        <p:spPr bwMode="auto">
          <a:xfrm>
            <a:off x="0" y="80010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61" name="Rectangle 37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062" name="Rectangle 38"/>
          <p:cNvSpPr>
            <a:spLocks noChangeArrowheads="1"/>
          </p:cNvSpPr>
          <p:nvPr/>
        </p:nvSpPr>
        <p:spPr bwMode="auto">
          <a:xfrm>
            <a:off x="0" y="80010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22531" name="Rectangle 3"/>
          <p:cNvSpPr>
            <a:spLocks noChangeArrowheads="1"/>
          </p:cNvSpPr>
          <p:nvPr/>
        </p:nvSpPr>
        <p:spPr bwMode="auto">
          <a:xfrm>
            <a:off x="0" y="68580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22534" name="Rectangle 6"/>
          <p:cNvSpPr>
            <a:spLocks noChangeArrowheads="1"/>
          </p:cNvSpPr>
          <p:nvPr/>
        </p:nvSpPr>
        <p:spPr bwMode="auto">
          <a:xfrm>
            <a:off x="0" y="1076325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536" name="Rectangle 8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22537" name="Rectangle 9"/>
          <p:cNvSpPr>
            <a:spLocks noChangeArrowheads="1"/>
          </p:cNvSpPr>
          <p:nvPr/>
        </p:nvSpPr>
        <p:spPr bwMode="auto">
          <a:xfrm>
            <a:off x="0" y="847725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539" name="Rectangle 1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25602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25603" name="Rectangle 3"/>
          <p:cNvSpPr>
            <a:spLocks noChangeArrowheads="1"/>
          </p:cNvSpPr>
          <p:nvPr/>
        </p:nvSpPr>
        <p:spPr bwMode="auto">
          <a:xfrm>
            <a:off x="0" y="83820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5605" name="Rectangle 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25606" name="Rectangle 6"/>
          <p:cNvSpPr>
            <a:spLocks noChangeArrowheads="1"/>
          </p:cNvSpPr>
          <p:nvPr/>
        </p:nvSpPr>
        <p:spPr bwMode="auto">
          <a:xfrm>
            <a:off x="0" y="91440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391886" y="1203986"/>
            <a:ext cx="8255725" cy="52257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6800" indent="-226800" algn="just">
              <a:lnSpc>
                <a:spcPct val="114000"/>
              </a:lnSpc>
              <a:buFont typeface="Arial" pitchFamily="34" charset="0"/>
              <a:buChar char="•"/>
            </a:pPr>
            <a:r>
              <a:rPr lang="en-IN" sz="2400" dirty="0" smtClean="0">
                <a:solidFill>
                  <a:schemeClr val="accent1">
                    <a:lumMod val="75000"/>
                  </a:schemeClr>
                </a:solidFill>
              </a:rPr>
              <a:t>Assuming for simplicity that n is a power of 2, the recurrence relation for the number of key comparisons C(n) is:</a:t>
            </a:r>
          </a:p>
          <a:p>
            <a:pPr marL="226800" indent="-226800" algn="ctr">
              <a:lnSpc>
                <a:spcPct val="150000"/>
              </a:lnSpc>
            </a:pPr>
            <a:r>
              <a:rPr lang="en-US" altLang="en-US" sz="2400" dirty="0" smtClean="0">
                <a:solidFill>
                  <a:schemeClr val="accent1">
                    <a:lumMod val="75000"/>
                  </a:schemeClr>
                </a:solidFill>
                <a:cs typeface="Leelawadee UI" panose="020B0502040204020203" pitchFamily="34" charset="-34"/>
              </a:rPr>
              <a:t>C(n) = 2C(n/2) + </a:t>
            </a:r>
            <a:r>
              <a:rPr lang="en-US" altLang="en-US" sz="2400" dirty="0" err="1" smtClean="0">
                <a:solidFill>
                  <a:schemeClr val="accent1">
                    <a:lumMod val="75000"/>
                  </a:schemeClr>
                </a:solidFill>
                <a:cs typeface="Leelawadee UI" panose="020B0502040204020203" pitchFamily="34" charset="-34"/>
              </a:rPr>
              <a:t>C</a:t>
            </a:r>
            <a:r>
              <a:rPr lang="en-US" altLang="en-US" sz="2400" baseline="-25000" dirty="0" err="1" smtClean="0">
                <a:solidFill>
                  <a:schemeClr val="accent1">
                    <a:lumMod val="75000"/>
                  </a:schemeClr>
                </a:solidFill>
                <a:cs typeface="Leelawadee UI" panose="020B0502040204020203" pitchFamily="34" charset="-34"/>
              </a:rPr>
              <a:t>merge</a:t>
            </a:r>
            <a:r>
              <a:rPr lang="en-US" altLang="en-US" sz="2400" dirty="0" smtClean="0">
                <a:solidFill>
                  <a:schemeClr val="accent1">
                    <a:lumMod val="75000"/>
                  </a:schemeClr>
                </a:solidFill>
                <a:cs typeface="Leelawadee UI" panose="020B0502040204020203" pitchFamily="34" charset="-34"/>
              </a:rPr>
              <a:t>(n) [for n &gt; 1], C(1) = 0</a:t>
            </a:r>
          </a:p>
          <a:p>
            <a:pPr marL="226800" indent="-226800" algn="just">
              <a:buFont typeface="Arial" pitchFamily="34" charset="0"/>
              <a:buChar char="•"/>
            </a:pPr>
            <a:endParaRPr lang="en-US" sz="24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226800" indent="-226800">
              <a:lnSpc>
                <a:spcPct val="114000"/>
              </a:lnSpc>
              <a:buFont typeface="Arial" pitchFamily="34" charset="0"/>
              <a:buChar char="•"/>
            </a:pPr>
            <a:r>
              <a:rPr lang="en-US" altLang="en-US" sz="2400" dirty="0" smtClean="0">
                <a:solidFill>
                  <a:schemeClr val="accent1">
                    <a:lumMod val="75000"/>
                  </a:schemeClr>
                </a:solidFill>
                <a:cs typeface="Leelawadee UI" panose="020B0502040204020203" pitchFamily="34" charset="-34"/>
              </a:rPr>
              <a:t>The number of key comparisons performed during the merging stage in the worst case is: </a:t>
            </a:r>
          </a:p>
          <a:p>
            <a:pPr marL="226800" indent="-226800" algn="ctr">
              <a:lnSpc>
                <a:spcPct val="114000"/>
              </a:lnSpc>
            </a:pPr>
            <a:r>
              <a:rPr lang="en-US" altLang="en-US" sz="2400" dirty="0" err="1" smtClean="0">
                <a:solidFill>
                  <a:schemeClr val="accent1">
                    <a:lumMod val="75000"/>
                  </a:schemeClr>
                </a:solidFill>
                <a:cs typeface="Leelawadee UI" panose="020B0502040204020203" pitchFamily="34" charset="-34"/>
              </a:rPr>
              <a:t>C</a:t>
            </a:r>
            <a:r>
              <a:rPr lang="en-US" altLang="en-US" sz="2400" baseline="-25000" dirty="0" err="1" smtClean="0">
                <a:solidFill>
                  <a:schemeClr val="accent1">
                    <a:lumMod val="75000"/>
                  </a:schemeClr>
                </a:solidFill>
                <a:cs typeface="Leelawadee UI" panose="020B0502040204020203" pitchFamily="34" charset="-34"/>
              </a:rPr>
              <a:t>merge</a:t>
            </a:r>
            <a:r>
              <a:rPr lang="en-US" altLang="en-US" sz="2400" dirty="0" smtClean="0">
                <a:solidFill>
                  <a:schemeClr val="accent1">
                    <a:lumMod val="75000"/>
                  </a:schemeClr>
                </a:solidFill>
                <a:cs typeface="Leelawadee UI" panose="020B0502040204020203" pitchFamily="34" charset="-34"/>
              </a:rPr>
              <a:t>(n) = n – 1</a:t>
            </a:r>
          </a:p>
          <a:p>
            <a:pPr marL="226800" indent="-226800">
              <a:lnSpc>
                <a:spcPct val="114000"/>
              </a:lnSpc>
              <a:buFont typeface="Arial" pitchFamily="34" charset="0"/>
              <a:buChar char="•"/>
            </a:pPr>
            <a:r>
              <a:rPr lang="en-US" altLang="en-US" sz="2400" dirty="0" smtClean="0">
                <a:solidFill>
                  <a:schemeClr val="accent1">
                    <a:lumMod val="75000"/>
                  </a:schemeClr>
                </a:solidFill>
                <a:cs typeface="Leelawadee UI" panose="020B0502040204020203" pitchFamily="34" charset="-34"/>
              </a:rPr>
              <a:t>Using the above equation:</a:t>
            </a:r>
          </a:p>
          <a:p>
            <a:pPr marL="226800" indent="-226800" algn="ctr">
              <a:lnSpc>
                <a:spcPct val="114000"/>
              </a:lnSpc>
            </a:pPr>
            <a:r>
              <a:rPr lang="en-US" altLang="en-US" sz="2400" dirty="0" err="1" smtClean="0">
                <a:solidFill>
                  <a:schemeClr val="accent1">
                    <a:lumMod val="75000"/>
                  </a:schemeClr>
                </a:solidFill>
                <a:cs typeface="Leelawadee UI" panose="020B0502040204020203" pitchFamily="34" charset="-34"/>
              </a:rPr>
              <a:t>C</a:t>
            </a:r>
            <a:r>
              <a:rPr lang="en-US" altLang="en-US" sz="2400" baseline="-25000" dirty="0" err="1" smtClean="0">
                <a:solidFill>
                  <a:schemeClr val="accent1">
                    <a:lumMod val="75000"/>
                  </a:schemeClr>
                </a:solidFill>
                <a:cs typeface="Leelawadee UI" panose="020B0502040204020203" pitchFamily="34" charset="-34"/>
              </a:rPr>
              <a:t>worst</a:t>
            </a:r>
            <a:r>
              <a:rPr lang="en-US" altLang="en-US" sz="2400" dirty="0" smtClean="0">
                <a:solidFill>
                  <a:schemeClr val="accent1">
                    <a:lumMod val="75000"/>
                  </a:schemeClr>
                </a:solidFill>
                <a:cs typeface="Leelawadee UI" panose="020B0502040204020203" pitchFamily="34" charset="-34"/>
              </a:rPr>
              <a:t>(n) = 2C</a:t>
            </a:r>
            <a:r>
              <a:rPr lang="en-US" altLang="en-US" sz="2400" baseline="-25000" dirty="0" smtClean="0">
                <a:solidFill>
                  <a:schemeClr val="accent1">
                    <a:lumMod val="75000"/>
                  </a:schemeClr>
                </a:solidFill>
                <a:cs typeface="Leelawadee UI" panose="020B0502040204020203" pitchFamily="34" charset="-34"/>
              </a:rPr>
              <a:t>worst</a:t>
            </a:r>
            <a:r>
              <a:rPr lang="en-US" altLang="en-US" sz="2400" dirty="0" smtClean="0">
                <a:solidFill>
                  <a:schemeClr val="accent1">
                    <a:lumMod val="75000"/>
                  </a:schemeClr>
                </a:solidFill>
                <a:cs typeface="Leelawadee UI" panose="020B0502040204020203" pitchFamily="34" charset="-34"/>
              </a:rPr>
              <a:t>(n/2) + n – 1 [for n &gt; 1], </a:t>
            </a:r>
            <a:r>
              <a:rPr lang="en-US" altLang="en-US" sz="2400" dirty="0" err="1" smtClean="0">
                <a:solidFill>
                  <a:schemeClr val="accent1">
                    <a:lumMod val="75000"/>
                  </a:schemeClr>
                </a:solidFill>
                <a:cs typeface="Leelawadee UI" panose="020B0502040204020203" pitchFamily="34" charset="-34"/>
              </a:rPr>
              <a:t>C</a:t>
            </a:r>
            <a:r>
              <a:rPr lang="en-US" altLang="en-US" sz="2400" baseline="-25000" dirty="0" err="1" smtClean="0">
                <a:solidFill>
                  <a:schemeClr val="accent1">
                    <a:lumMod val="75000"/>
                  </a:schemeClr>
                </a:solidFill>
                <a:cs typeface="Leelawadee UI" panose="020B0502040204020203" pitchFamily="34" charset="-34"/>
              </a:rPr>
              <a:t>worst</a:t>
            </a:r>
            <a:r>
              <a:rPr lang="en-US" altLang="en-US" sz="2400" dirty="0" smtClean="0">
                <a:solidFill>
                  <a:schemeClr val="accent1">
                    <a:lumMod val="75000"/>
                  </a:schemeClr>
                </a:solidFill>
                <a:cs typeface="Leelawadee UI" panose="020B0502040204020203" pitchFamily="34" charset="-34"/>
              </a:rPr>
              <a:t>(1) = 0</a:t>
            </a:r>
          </a:p>
          <a:p>
            <a:pPr marL="226800" indent="-226800">
              <a:lnSpc>
                <a:spcPct val="114000"/>
              </a:lnSpc>
              <a:buFont typeface="Arial" pitchFamily="34" charset="0"/>
              <a:buChar char="•"/>
            </a:pPr>
            <a:endParaRPr lang="en-US" altLang="en-US" sz="2400" dirty="0" smtClean="0">
              <a:solidFill>
                <a:schemeClr val="accent1">
                  <a:lumMod val="75000"/>
                </a:schemeClr>
              </a:solidFill>
              <a:cs typeface="Leelawadee UI" panose="020B0502040204020203" pitchFamily="34" charset="-34"/>
            </a:endParaRPr>
          </a:p>
          <a:p>
            <a:pPr marL="226800" indent="-226800">
              <a:lnSpc>
                <a:spcPct val="114000"/>
              </a:lnSpc>
              <a:buFont typeface="Arial" pitchFamily="34" charset="0"/>
              <a:buChar char="•"/>
            </a:pPr>
            <a:r>
              <a:rPr lang="en-US" altLang="en-US" sz="2400" dirty="0" smtClean="0">
                <a:solidFill>
                  <a:schemeClr val="accent1">
                    <a:lumMod val="75000"/>
                  </a:schemeClr>
                </a:solidFill>
                <a:cs typeface="Leelawadee UI" panose="020B0502040204020203" pitchFamily="34" charset="-34"/>
              </a:rPr>
              <a:t>Applying Master Theorem to the above equation:</a:t>
            </a:r>
          </a:p>
          <a:p>
            <a:pPr marL="226800" indent="-226800" algn="ctr">
              <a:lnSpc>
                <a:spcPct val="114000"/>
              </a:lnSpc>
            </a:pPr>
            <a:r>
              <a:rPr lang="en-US" altLang="en-US" sz="2400" dirty="0" err="1" smtClean="0">
                <a:solidFill>
                  <a:schemeClr val="accent1">
                    <a:lumMod val="75000"/>
                  </a:schemeClr>
                </a:solidFill>
                <a:cs typeface="Leelawadee UI" panose="020B0502040204020203" pitchFamily="34" charset="-34"/>
              </a:rPr>
              <a:t>C</a:t>
            </a:r>
            <a:r>
              <a:rPr lang="en-US" altLang="en-US" sz="2400" baseline="-25000" dirty="0" err="1" smtClean="0">
                <a:solidFill>
                  <a:schemeClr val="accent1">
                    <a:lumMod val="75000"/>
                  </a:schemeClr>
                </a:solidFill>
                <a:cs typeface="Leelawadee UI" panose="020B0502040204020203" pitchFamily="34" charset="-34"/>
              </a:rPr>
              <a:t>worst</a:t>
            </a:r>
            <a:r>
              <a:rPr lang="en-US" altLang="en-US" sz="2400" dirty="0" smtClean="0">
                <a:solidFill>
                  <a:schemeClr val="accent1">
                    <a:lumMod val="75000"/>
                  </a:schemeClr>
                </a:solidFill>
                <a:cs typeface="Leelawadee UI" panose="020B0502040204020203" pitchFamily="34" charset="-34"/>
              </a:rPr>
              <a:t>(n) </a:t>
            </a:r>
            <a:r>
              <a:rPr lang="en-US" altLang="en-US" sz="2400" dirty="0" smtClean="0">
                <a:solidFill>
                  <a:schemeClr val="accent1">
                    <a:lumMod val="75000"/>
                  </a:schemeClr>
                </a:solidFill>
                <a:cs typeface="Leelawadee UI" panose="020B0502040204020203" pitchFamily="34" charset="-34"/>
                <a:sym typeface="Symbol" panose="05050102010706020507" pitchFamily="18" charset="2"/>
              </a:rPr>
              <a:t></a:t>
            </a:r>
            <a:r>
              <a:rPr lang="en-US" altLang="en-US" sz="2400" dirty="0" smtClean="0">
                <a:solidFill>
                  <a:schemeClr val="accent1">
                    <a:lumMod val="75000"/>
                  </a:schemeClr>
                </a:solidFill>
                <a:cs typeface="Leelawadee UI" panose="020B0502040204020203" pitchFamily="34" charset="-34"/>
              </a:rPr>
              <a:t> </a:t>
            </a:r>
            <a:r>
              <a:rPr lang="el-GR" altLang="en-US" sz="2400" dirty="0" smtClean="0">
                <a:solidFill>
                  <a:schemeClr val="accent1">
                    <a:lumMod val="75000"/>
                  </a:schemeClr>
                </a:solidFill>
                <a:cs typeface="Leelawadee UI" panose="020B0502040204020203" pitchFamily="34" charset="-34"/>
                <a:sym typeface="Symbol" panose="05050102010706020507" pitchFamily="18" charset="2"/>
              </a:rPr>
              <a:t></a:t>
            </a:r>
            <a:r>
              <a:rPr lang="en-IN" altLang="en-US" sz="2400" dirty="0" smtClean="0">
                <a:solidFill>
                  <a:schemeClr val="accent1">
                    <a:lumMod val="75000"/>
                  </a:schemeClr>
                </a:solidFill>
                <a:cs typeface="Leelawadee UI" panose="020B0502040204020203" pitchFamily="34" charset="-34"/>
                <a:sym typeface="Symbol" panose="05050102010706020507" pitchFamily="18" charset="2"/>
              </a:rPr>
              <a:t>(n log n)</a:t>
            </a:r>
            <a:endParaRPr lang="en-US" altLang="en-US" sz="2400" dirty="0" smtClean="0">
              <a:solidFill>
                <a:schemeClr val="accent1">
                  <a:lumMod val="75000"/>
                </a:schemeClr>
              </a:solidFill>
              <a:cs typeface="Leelawadee UI" panose="020B0502040204020203" pitchFamily="34" charset="-34"/>
            </a:endParaRPr>
          </a:p>
        </p:txBody>
      </p:sp>
      <p:sp>
        <p:nvSpPr>
          <p:cNvPr id="26626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26627" name="Rectangle 3"/>
          <p:cNvSpPr>
            <a:spLocks noChangeArrowheads="1"/>
          </p:cNvSpPr>
          <p:nvPr/>
        </p:nvSpPr>
        <p:spPr bwMode="auto">
          <a:xfrm>
            <a:off x="0" y="108585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6629" name="Rectangle 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26630" name="Rectangle 6"/>
          <p:cNvSpPr>
            <a:spLocks noChangeArrowheads="1"/>
          </p:cNvSpPr>
          <p:nvPr/>
        </p:nvSpPr>
        <p:spPr bwMode="auto">
          <a:xfrm>
            <a:off x="0" y="108585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6632" name="Rectangle 8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26633" name="Rectangle 9"/>
          <p:cNvSpPr>
            <a:spLocks noChangeArrowheads="1"/>
          </p:cNvSpPr>
          <p:nvPr/>
        </p:nvSpPr>
        <p:spPr bwMode="auto">
          <a:xfrm>
            <a:off x="0" y="74295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6635" name="Rectangle 11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26636" name="Rectangle 12"/>
          <p:cNvSpPr>
            <a:spLocks noChangeArrowheads="1"/>
          </p:cNvSpPr>
          <p:nvPr/>
        </p:nvSpPr>
        <p:spPr bwMode="auto">
          <a:xfrm>
            <a:off x="0" y="74295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665001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4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4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9473B520-A9D1-472D-B234-C4032DD0E596}"/>
              </a:ext>
            </a:extLst>
          </p:cNvPr>
          <p:cNvCxnSpPr>
            <a:cxnSpLocks/>
          </p:cNvCxnSpPr>
          <p:nvPr/>
        </p:nvCxnSpPr>
        <p:spPr>
          <a:xfrm flipV="1">
            <a:off x="5448168" y="2887307"/>
            <a:ext cx="4581449" cy="1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C43E8D5-98D6-4BA6-B3EA-B5411DA566A9}"/>
              </a:ext>
            </a:extLst>
          </p:cNvPr>
          <p:cNvSpPr/>
          <p:nvPr/>
        </p:nvSpPr>
        <p:spPr>
          <a:xfrm>
            <a:off x="5460537" y="4415883"/>
            <a:ext cx="45064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shylaja.sharath@pes.edu</a:t>
            </a:r>
            <a:endParaRPr lang="en-IN" sz="2400" b="1" dirty="0"/>
          </a:p>
        </p:txBody>
      </p:sp>
      <p:grpSp>
        <p:nvGrpSpPr>
          <p:cNvPr id="2" name="Group 12">
            <a:extLst>
              <a:ext uri="{FF2B5EF4-FFF2-40B4-BE49-F238E27FC236}">
                <a16:creationId xmlns:a16="http://schemas.microsoft.com/office/drawing/2014/main" xmlns="" id="{0B436274-E913-46F7-B58F-E0B0713EC594}"/>
              </a:ext>
            </a:extLst>
          </p:cNvPr>
          <p:cNvGrpSpPr/>
          <p:nvPr/>
        </p:nvGrpSpPr>
        <p:grpSpPr>
          <a:xfrm>
            <a:off x="313844" y="349466"/>
            <a:ext cx="11518407" cy="6218388"/>
            <a:chOff x="313844" y="349466"/>
            <a:chExt cx="11518407" cy="6218388"/>
          </a:xfrm>
          <a:solidFill>
            <a:schemeClr val="accent2">
              <a:lumMod val="75000"/>
            </a:schemeClr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xmlns="" id="{54B9092D-46D3-4724-A230-51F43D78A967}"/>
                </a:ext>
              </a:extLst>
            </p:cNvPr>
            <p:cNvSpPr/>
            <p:nvPr/>
          </p:nvSpPr>
          <p:spPr>
            <a:xfrm>
              <a:off x="11786532" y="360726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xmlns="" id="{B5E94C15-EFC4-4DC4-AE91-4D6631C438BE}"/>
                </a:ext>
              </a:extLst>
            </p:cNvPr>
            <p:cNvSpPr/>
            <p:nvPr/>
          </p:nvSpPr>
          <p:spPr>
            <a:xfrm rot="5400000">
              <a:off x="11275944" y="-161122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xmlns="" id="{828287AB-A481-4BDF-BE49-1BBA364237E1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xmlns="" id="{EC3328F7-E593-44F8-A55A-576E1E3E973D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18" name="Picture 17" descr="A close up of a logo&#10;&#10;Description automatically generated">
            <a:extLst>
              <a:ext uri="{FF2B5EF4-FFF2-40B4-BE49-F238E27FC236}">
                <a16:creationId xmlns:a16="http://schemas.microsoft.com/office/drawing/2014/main" xmlns="" id="{A88F3CC2-5C5B-4685-8D94-FFC4B5D64CB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411974" y="1606241"/>
            <a:ext cx="2369218" cy="3550188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94BAC35B-0C86-48BD-81AE-8629CCB2734E}"/>
              </a:ext>
            </a:extLst>
          </p:cNvPr>
          <p:cNvSpPr/>
          <p:nvPr/>
        </p:nvSpPr>
        <p:spPr>
          <a:xfrm>
            <a:off x="5448168" y="2049518"/>
            <a:ext cx="4603806" cy="665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2">
                    <a:lumMod val="75000"/>
                  </a:schemeClr>
                </a:solidFill>
              </a:rPr>
              <a:t>T</a:t>
            </a:r>
            <a:r>
              <a:rPr lang="en-IN" sz="3600" b="1" dirty="0">
                <a:solidFill>
                  <a:schemeClr val="accent2">
                    <a:lumMod val="75000"/>
                  </a:schemeClr>
                </a:solidFill>
              </a:rPr>
              <a:t>HANK YOU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97E8DF64-61DB-4438-8664-105788459AD2}"/>
              </a:ext>
            </a:extLst>
          </p:cNvPr>
          <p:cNvSpPr/>
          <p:nvPr/>
        </p:nvSpPr>
        <p:spPr>
          <a:xfrm>
            <a:off x="5448168" y="3128242"/>
            <a:ext cx="45449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 smtClean="0"/>
              <a:t>Shylaja</a:t>
            </a:r>
            <a:r>
              <a:rPr lang="en-US" sz="2400" b="1" dirty="0" smtClean="0"/>
              <a:t> S </a:t>
            </a:r>
            <a:r>
              <a:rPr lang="en-US" sz="2400" b="1" dirty="0" err="1" smtClean="0"/>
              <a:t>S</a:t>
            </a:r>
            <a:endParaRPr lang="en-US" sz="2400" b="1" dirty="0" smtClean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0916C8C7-6436-48A9-9CF7-1AAC7653EAAE}"/>
              </a:ext>
            </a:extLst>
          </p:cNvPr>
          <p:cNvSpPr/>
          <p:nvPr/>
        </p:nvSpPr>
        <p:spPr>
          <a:xfrm>
            <a:off x="5435106" y="3565417"/>
            <a:ext cx="454491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Department of </a:t>
            </a:r>
            <a:r>
              <a:rPr lang="en-US" sz="2400" dirty="0" smtClean="0"/>
              <a:t>Computer Science</a:t>
            </a:r>
          </a:p>
          <a:p>
            <a:r>
              <a:rPr lang="en-US" sz="2400" dirty="0" smtClean="0"/>
              <a:t>&amp; Engineering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xmlns="" val="1459503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11904</TotalTime>
  <Words>495</Words>
  <Application>Microsoft Office PowerPoint</Application>
  <PresentationFormat>Custom</PresentationFormat>
  <Paragraphs>167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Shylaja S S</dc:creator>
  <cp:lastModifiedBy>Kusuma K V</cp:lastModifiedBy>
  <cp:revision>1313</cp:revision>
  <dcterms:created xsi:type="dcterms:W3CDTF">2020-06-03T14:19:11Z</dcterms:created>
  <dcterms:modified xsi:type="dcterms:W3CDTF">2024-02-12T04:35:11Z</dcterms:modified>
</cp:coreProperties>
</file>